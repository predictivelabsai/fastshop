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med.ncbi.nlm.nih.gov/26483953/" TargetMode="External"/><Relationship Id="rId3" Type="http://schemas.openxmlformats.org/officeDocument/2006/relationships/hyperlink" Target="https://www.ncbi.nlm.nih.gov/pubmed/23680032/"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cbi.nlm.nih.gov/pubmed/30918832/" TargetMode="External"/><Relationship Id="rId3" Type="http://schemas.openxmlformats.org/officeDocument/2006/relationships/hyperlink" Target="https://www.ncbi.nlm.nih.gov/pubmed/31251888/"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pubmed.ncbi.nlm.nih.gov/38590828/" TargetMode="External"/><Relationship Id="rId3" Type="http://schemas.openxmlformats.org/officeDocument/2006/relationships/hyperlink" Target="https://pubmed.ncbi.nlm.nih.gov/36819697/" TargetMode="External"/><Relationship Id="rId4" Type="http://schemas.openxmlformats.org/officeDocument/2006/relationships/hyperlink" Target="https://doi.org/10.3390/ph1602014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PHASE2_ACCEPTANCE_STATUS.md"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24YOU_SOURCE_BRIEF.md"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874519"/>
            <a:ext cx="12191695" cy="54864"/>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94560"/>
            <a:ext cx="10362895" cy="2926080"/>
          </a:xfrm>
          <a:prstGeom prst="rect">
            <a:avLst/>
          </a:prstGeom>
          <a:noFill/>
        </p:spPr>
        <p:txBody>
          <a:bodyPr wrap="square">
            <a:spAutoFit/>
          </a:bodyPr>
          <a:lstStyle/>
          <a:p>
            <a:pPr algn="ctr"/>
            <a:r>
              <a:rPr sz="4600" b="1">
                <a:solidFill>
                  <a:srgbClr val="FFFFFF"/>
                </a:solidFill>
              </a:rPr>
              <a:t>FastShop</a:t>
            </a:r>
          </a:p>
          <a:p>
            <a:pPr algn="ctr">
              <a:spcBef>
                <a:spcPts val="1200"/>
              </a:spcBef>
            </a:pPr>
            <a:r>
              <a:rPr sz="1800">
                <a:solidFill>
                  <a:srgbClr val="D6E6F5"/>
                </a:solidFill>
              </a:rPr>
              <a:t>User Guide — Build and Run Your Own Store</a:t>
            </a:r>
          </a:p>
          <a:p>
            <a:pPr algn="ctr">
              <a:spcBef>
                <a:spcPts val="1200"/>
              </a:spcBef>
            </a:pPr>
            <a:r>
              <a:rPr sz="1800">
                <a:solidFill>
                  <a:srgbClr val="D6E6F5"/>
                </a:solidFill>
              </a:rPr>
              <a:t>Classical editing. Conversational building. One shared site.</a:t>
            </a:r>
          </a:p>
          <a:p>
            <a:pPr algn="ctr">
              <a:spcBef>
                <a:spcPts val="1200"/>
              </a:spcBef>
            </a:pPr>
            <a:r>
              <a:rPr sz="1800">
                <a:solidFill>
                  <a:srgbClr val="D6E6F5"/>
                </a:solidFill>
              </a:rPr>
              <a:t>Worked example: H2 | 4 YOU · h24you.com</a:t>
            </a:r>
          </a:p>
          <a:p>
            <a:pPr algn="ctr">
              <a:spcBef>
                <a:spcPts val="1200"/>
              </a:spcBef>
            </a:pPr>
            <a:r>
              <a:rPr sz="1800">
                <a:solidFill>
                  <a:srgbClr val="D6E6F5"/>
                </a:solidFill>
              </a:rPr>
              <a:t>21 September 2026 · Local demonstration edition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Contents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731520"/>
          </a:xfrm>
          <a:prstGeom prst="rect">
            <a:avLst/>
          </a:prstGeom>
          <a:noFill/>
        </p:spPr>
        <p:txBody>
          <a:bodyPr wrap="square">
            <a:spAutoFit/>
          </a:bodyPr>
          <a:lstStyle/>
          <a:p>
            <a:pPr>
              <a:spcAft>
                <a:spcPts val="600"/>
              </a:spcAft>
            </a:pPr>
            <a:r>
              <a:rPr sz="1400">
                <a:solidFill>
                  <a:srgbClr val="1B2733"/>
                </a:solidFill>
              </a:rPr>
              <a:t>The PDF and PowerPoint use the same page/slide sequence, following FastClinic's sectioned guide pattern. Screenshots show a local H24YOU fixture—not a live-site audit, an actual customer, a payment-provider test or regulatory approval.</a:t>
            </a:r>
          </a:p>
        </p:txBody>
      </p:sp>
      <p:graphicFrame>
        <p:nvGraphicFramePr>
          <p:cNvPr id="5" name="Table 4"/>
          <p:cNvGraphicFramePr>
            <a:graphicFrameLocks noGrp="1"/>
          </p:cNvGraphicFramePr>
          <p:nvPr/>
        </p:nvGraphicFramePr>
        <p:xfrm>
          <a:off x="502920" y="1783080"/>
          <a:ext cx="11185853" cy="4572000"/>
        </p:xfrm>
        <a:graphic>
          <a:graphicData uri="http://schemas.openxmlformats.org/drawingml/2006/table">
            <a:tbl>
              <a:tblPr firstRow="1" bandRow="1">
                <a:tableStyleId>{5C22544A-7EE6-4342-B048-85BDC9FD1C3A}</a:tableStyleId>
              </a:tblPr>
              <a:tblGrid>
                <a:gridCol w="2908322"/>
                <a:gridCol w="1789736"/>
                <a:gridCol w="6487795"/>
              </a:tblGrid>
              <a:tr h="762000">
                <a:tc>
                  <a:txBody>
                    <a:bodyPr/>
                    <a:lstStyle/>
                    <a:p>
                      <a:r>
                        <a:rPr sz="1000" b="1">
                          <a:solidFill>
                            <a:srgbClr val="FFFFFF"/>
                          </a:solidFill>
                        </a:rPr>
                        <a:t>Section</a:t>
                      </a:r>
                    </a:p>
                  </a:txBody>
                  <a:tcPr marL="54864" marR="54864" marT="9144" marB="9144" anchor="ctr">
                    <a:solidFill>
                      <a:srgbClr val="174C39"/>
                    </a:solidFill>
                  </a:tcPr>
                </a:tc>
                <a:tc>
                  <a:txBody>
                    <a:bodyPr/>
                    <a:lstStyle/>
                    <a:p>
                      <a:r>
                        <a:rPr sz="1000" b="1">
                          <a:solidFill>
                            <a:srgbClr val="FFFFFF"/>
                          </a:solidFill>
                        </a:rPr>
                        <a:t>Pages / slides</a:t>
                      </a:r>
                    </a:p>
                  </a:txBody>
                  <a:tcPr marL="54864" marR="54864" marT="9144" marB="9144" anchor="ctr">
                    <a:solidFill>
                      <a:srgbClr val="174C39"/>
                    </a:solidFill>
                  </a:tcPr>
                </a:tc>
                <a:tc>
                  <a:txBody>
                    <a:bodyPr/>
                    <a:lstStyle/>
                    <a:p>
                      <a:r>
                        <a:rPr sz="1000" b="1">
                          <a:solidFill>
                            <a:srgbClr val="FFFFFF"/>
                          </a:solidFill>
                        </a:rPr>
                        <a:t>What you will do</a:t>
                      </a:r>
                    </a:p>
                  </a:txBody>
                  <a:tcPr marL="54864" marR="54864" marT="9144" marB="9144" anchor="ctr">
                    <a:solidFill>
                      <a:srgbClr val="174C39"/>
                    </a:solidFill>
                  </a:tcPr>
                </a:tc>
              </a:tr>
              <a:tr h="762000">
                <a:tc>
                  <a:txBody>
                    <a:bodyPr/>
                    <a:lstStyle/>
                    <a:p>
                      <a:r>
                        <a:rPr b="1" sz="1000">
                          <a:solidFill>
                            <a:srgbClr val="174C39"/>
                          </a:solidFill>
                        </a:rPr>
                        <a:t>01 · Get started</a:t>
                      </a:r>
                    </a:p>
                  </a:txBody>
                  <a:tcPr marL="54864" marR="54864" marT="9144" marB="9144" anchor="ctr">
                    <a:solidFill>
                      <a:srgbClr val="FFFFFF"/>
                    </a:solidFill>
                  </a:tcPr>
                </a:tc>
                <a:tc>
                  <a:txBody>
                    <a:bodyPr/>
                    <a:lstStyle/>
                    <a:p>
                      <a:r>
                        <a:rPr sz="1000">
                          <a:solidFill>
                            <a:srgbClr val="1B2733"/>
                          </a:solidFill>
                        </a:rPr>
                        <a:t>3–6</a:t>
                      </a:r>
                    </a:p>
                  </a:txBody>
                  <a:tcPr marL="54864" marR="54864" marT="9144" marB="9144" anchor="ctr">
                    <a:solidFill>
                      <a:srgbClr val="FFFFFF"/>
                    </a:solidFill>
                  </a:tcPr>
                </a:tc>
                <a:tc>
                  <a:txBody>
                    <a:bodyPr/>
                    <a:lstStyle/>
                    <a:p>
                      <a:r>
                        <a:rPr sz="1000">
                          <a:solidFill>
                            <a:srgbClr val="1B2733"/>
                          </a:solidFill>
                        </a:rPr>
                        <a:t>Understand the two flows and the H24YOU page plan</a:t>
                      </a:r>
                    </a:p>
                  </a:txBody>
                  <a:tcPr marL="54864" marR="54864" marT="9144" marB="9144" anchor="ctr">
                    <a:solidFill>
                      <a:srgbClr val="FFFFFF"/>
                    </a:solidFill>
                  </a:tcPr>
                </a:tc>
              </a:tr>
              <a:tr h="762000">
                <a:tc>
                  <a:txBody>
                    <a:bodyPr/>
                    <a:lstStyle/>
                    <a:p>
                      <a:r>
                        <a:rPr b="1" sz="1000">
                          <a:solidFill>
                            <a:srgbClr val="174C39"/>
                          </a:solidFill>
                        </a:rPr>
                        <a:t>02 · Build with classical controls</a:t>
                      </a:r>
                    </a:p>
                  </a:txBody>
                  <a:tcPr marL="54864" marR="54864" marT="9144" marB="9144" anchor="ctr">
                    <a:solidFill>
                      <a:srgbClr val="EEF4FA"/>
                    </a:solidFill>
                  </a:tcPr>
                </a:tc>
                <a:tc>
                  <a:txBody>
                    <a:bodyPr/>
                    <a:lstStyle/>
                    <a:p>
                      <a:r>
                        <a:rPr sz="1000">
                          <a:solidFill>
                            <a:srgbClr val="1B2733"/>
                          </a:solidFill>
                        </a:rPr>
                        <a:t>7–13</a:t>
                      </a:r>
                    </a:p>
                  </a:txBody>
                  <a:tcPr marL="54864" marR="54864" marT="9144" marB="9144" anchor="ctr">
                    <a:solidFill>
                      <a:srgbClr val="EEF4FA"/>
                    </a:solidFill>
                  </a:tcPr>
                </a:tc>
                <a:tc>
                  <a:txBody>
                    <a:bodyPr/>
                    <a:lstStyle/>
                    <a:p>
                      <a:r>
                        <a:rPr sz="1000">
                          <a:solidFill>
                            <a:srgbClr val="1B2733"/>
                          </a:solidFill>
                        </a:rPr>
                        <a:t>Edit pages, products, media, shared content and research</a:t>
                      </a:r>
                    </a:p>
                  </a:txBody>
                  <a:tcPr marL="54864" marR="54864" marT="9144" marB="9144" anchor="ctr">
                    <a:solidFill>
                      <a:srgbClr val="EEF4FA"/>
                    </a:solidFill>
                  </a:tcPr>
                </a:tc>
              </a:tr>
              <a:tr h="762000">
                <a:tc>
                  <a:txBody>
                    <a:bodyPr/>
                    <a:lstStyle/>
                    <a:p>
                      <a:r>
                        <a:rPr b="1" sz="1000">
                          <a:solidFill>
                            <a:srgbClr val="174C39"/>
                          </a:solidFill>
                        </a:rPr>
                        <a:t>03 · Build with chat</a:t>
                      </a:r>
                    </a:p>
                  </a:txBody>
                  <a:tcPr marL="54864" marR="54864" marT="9144" marB="9144" anchor="ctr">
                    <a:solidFill>
                      <a:srgbClr val="FFFFFF"/>
                    </a:solidFill>
                  </a:tcPr>
                </a:tc>
                <a:tc>
                  <a:txBody>
                    <a:bodyPr/>
                    <a:lstStyle/>
                    <a:p>
                      <a:r>
                        <a:rPr sz="1000">
                          <a:solidFill>
                            <a:srgbClr val="1B2733"/>
                          </a:solidFill>
                        </a:rPr>
                        <a:t>14–26</a:t>
                      </a:r>
                    </a:p>
                  </a:txBody>
                  <a:tcPr marL="54864" marR="54864" marT="9144" marB="9144" anchor="ctr">
                    <a:solidFill>
                      <a:srgbClr val="FFFFFF"/>
                    </a:solidFill>
                  </a:tcPr>
                </a:tc>
                <a:tc>
                  <a:txBody>
                    <a:bodyPr/>
                    <a:lstStyle/>
                    <a:p>
                      <a:r>
                        <a:rPr sz="1000">
                          <a:solidFill>
                            <a:srgbClr val="1B2733"/>
                          </a:solidFill>
                        </a:rPr>
                        <a:t>Use the H24YOU prompt library, preview changes and undo</a:t>
                      </a:r>
                    </a:p>
                  </a:txBody>
                  <a:tcPr marL="54864" marR="54864" marT="9144" marB="9144" anchor="ctr">
                    <a:solidFill>
                      <a:srgbClr val="FFFFFF"/>
                    </a:solidFill>
                  </a:tcPr>
                </a:tc>
              </a:tr>
              <a:tr h="762000">
                <a:tc>
                  <a:txBody>
                    <a:bodyPr/>
                    <a:lstStyle/>
                    <a:p>
                      <a:r>
                        <a:rPr b="1" sz="1000">
                          <a:solidFill>
                            <a:srgbClr val="174C39"/>
                          </a:solidFill>
                        </a:rPr>
                        <a:t>04 · Prepare commerce</a:t>
                      </a:r>
                    </a:p>
                  </a:txBody>
                  <a:tcPr marL="54864" marR="54864" marT="9144" marB="9144" anchor="ctr">
                    <a:solidFill>
                      <a:srgbClr val="EEF4FA"/>
                    </a:solidFill>
                  </a:tcPr>
                </a:tc>
                <a:tc>
                  <a:txBody>
                    <a:bodyPr/>
                    <a:lstStyle/>
                    <a:p>
                      <a:r>
                        <a:rPr sz="1000">
                          <a:solidFill>
                            <a:srgbClr val="1B2733"/>
                          </a:solidFill>
                        </a:rPr>
                        <a:t>27–34</a:t>
                      </a:r>
                    </a:p>
                  </a:txBody>
                  <a:tcPr marL="54864" marR="54864" marT="9144" marB="9144" anchor="ctr">
                    <a:solidFill>
                      <a:srgbClr val="EEF4FA"/>
                    </a:solidFill>
                  </a:tcPr>
                </a:tc>
                <a:tc>
                  <a:txBody>
                    <a:bodyPr/>
                    <a:lstStyle/>
                    <a:p>
                      <a:r>
                        <a:rPr sz="1000">
                          <a:solidFill>
                            <a:srgbClr val="1B2733"/>
                          </a:solidFill>
                        </a:rPr>
                        <a:t>Review merchant data; try checkout, subscriptions, accounts and email</a:t>
                      </a:r>
                    </a:p>
                  </a:txBody>
                  <a:tcPr marL="54864" marR="54864" marT="9144" marB="9144" anchor="ctr">
                    <a:solidFill>
                      <a:srgbClr val="EEF4FA"/>
                    </a:solidFill>
                  </a:tcPr>
                </a:tc>
              </a:tr>
              <a:tr h="762000">
                <a:tc>
                  <a:txBody>
                    <a:bodyPr/>
                    <a:lstStyle/>
                    <a:p>
                      <a:r>
                        <a:rPr b="1" sz="1000">
                          <a:solidFill>
                            <a:srgbClr val="174C39"/>
                          </a:solidFill>
                        </a:rPr>
                        <a:t>05 · Review and launch</a:t>
                      </a:r>
                    </a:p>
                  </a:txBody>
                  <a:tcPr marL="54864" marR="54864" marT="9144" marB="9144" anchor="ctr">
                    <a:solidFill>
                      <a:srgbClr val="FFFFFF"/>
                    </a:solidFill>
                  </a:tcPr>
                </a:tc>
                <a:tc>
                  <a:txBody>
                    <a:bodyPr/>
                    <a:lstStyle/>
                    <a:p>
                      <a:r>
                        <a:rPr sz="1000">
                          <a:solidFill>
                            <a:srgbClr val="1B2733"/>
                          </a:solidFill>
                        </a:rPr>
                        <a:t>35–39</a:t>
                      </a:r>
                    </a:p>
                  </a:txBody>
                  <a:tcPr marL="54864" marR="54864" marT="9144" marB="9144" anchor="ctr">
                    <a:solidFill>
                      <a:srgbClr val="FFFFFF"/>
                    </a:solidFill>
                  </a:tcPr>
                </a:tc>
                <a:tc>
                  <a:txBody>
                    <a:bodyPr/>
                    <a:lstStyle/>
                    <a:p>
                      <a:r>
                        <a:rPr sz="1000">
                          <a:solidFill>
                            <a:srgbClr val="1B2733"/>
                          </a:solidFill>
                        </a:rPr>
                        <a:t>Separate Phase 1 approval from commerce acceptance; replace placeholders</a:t>
                      </a:r>
                    </a:p>
                  </a:txBody>
                  <a:tcPr marL="54864" marR="54864" marT="9144" marB="9144" anchor="ctr">
                    <a:solidFill>
                      <a:srgbClr val="FFFFFF"/>
                    </a:solidFill>
                  </a:tcPr>
                </a:tc>
              </a:tr>
            </a:tbl>
          </a:graphicData>
        </a:graphic>
      </p:graphicFrame>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94360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38912"/>
            <a:ext cx="73152" cy="5943600"/>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143000"/>
            <a:ext cx="2743200" cy="457200"/>
          </a:xfrm>
          <a:prstGeom prst="rect">
            <a:avLst/>
          </a:prstGeom>
          <a:noFill/>
        </p:spPr>
        <p:txBody>
          <a:bodyPr wrap="none">
            <a:spAutoFit/>
          </a:bodyPr>
          <a:lstStyle/>
          <a:p>
            <a:r>
              <a:rPr sz="1200" b="1">
                <a:solidFill>
                  <a:srgbClr val="D6E6F5"/>
                </a:solidFill>
              </a:rPr>
              <a:t>SECTION 01</a:t>
            </a:r>
          </a:p>
        </p:txBody>
      </p:sp>
      <p:sp>
        <p:nvSpPr>
          <p:cNvPr id="5" name="TextBox 4"/>
          <p:cNvSpPr txBox="1"/>
          <p:nvPr/>
        </p:nvSpPr>
        <p:spPr>
          <a:xfrm>
            <a:off x="1143000" y="1874519"/>
            <a:ext cx="10180015" cy="3200400"/>
          </a:xfrm>
          <a:prstGeom prst="rect">
            <a:avLst/>
          </a:prstGeom>
          <a:noFill/>
        </p:spPr>
        <p:txBody>
          <a:bodyPr wrap="square">
            <a:spAutoFit/>
          </a:bodyPr>
          <a:lstStyle/>
          <a:p>
            <a:r>
              <a:rPr sz="4200" b="1">
                <a:solidFill>
                  <a:srgbClr val="FFFFFF"/>
                </a:solidFill>
              </a:rPr>
              <a:t>Get started</a:t>
            </a:r>
          </a:p>
          <a:p>
            <a:pPr>
              <a:spcBef>
                <a:spcPts val="1600"/>
              </a:spcBef>
            </a:pPr>
            <a:r>
              <a:rPr sz="1800">
                <a:solidFill>
                  <a:srgbClr val="D6E6F5"/>
                </a:solidFill>
              </a:rPr>
              <a:t>Use H24YOU as a worked example. Build the design and content first, review it, then prepare commerce in a separate, explicitly approved phase.</a:t>
            </a:r>
          </a:p>
        </p:txBody>
      </p:sp>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Your sample store: H2 | 4 YOU</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H24YOU demonstrates a content-rich US store: hydrogen tablets in </a:t>
            </a:r>
            <a:r>
              <a:rPr b="1" sz="1400">
                <a:solidFill>
                  <a:srgbClr val="174C39"/>
                </a:solidFill>
              </a:rPr>
              <a:t>Unflavoured, Raspberry and Pineapple</a:t>
            </a:r>
            <a:r>
              <a:rPr sz="1400">
                <a:solidFill>
                  <a:srgbClr val="1B2733"/>
                </a:solidFill>
              </a:rPr>
              <a:t>, plus a branded </a:t>
            </a:r>
            <a:r>
              <a:rPr b="1" sz="1400">
                <a:solidFill>
                  <a:srgbClr val="174C39"/>
                </a:solidFill>
              </a:rPr>
              <a:t>Hydroxy Go bottle</a:t>
            </a:r>
            <a:r>
              <a:rPr sz="1400">
                <a:solidFill>
                  <a:srgbClr val="1B2733"/>
                </a:solidFill>
              </a:rPr>
              <a:t>. The brief specifies English and USD. In running copy use </a:t>
            </a:r>
            <a:r>
              <a:rPr b="1" sz="1400">
                <a:solidFill>
                  <a:srgbClr val="174C39"/>
                </a:solidFill>
              </a:rPr>
              <a:t>H2 4 You</a:t>
            </a:r>
            <a:r>
              <a:rPr sz="1400">
                <a:solidFill>
                  <a:srgbClr val="1B2733"/>
                </a:solidFill>
              </a:rPr>
              <a:t>; the logo uses </a:t>
            </a:r>
            <a:r>
              <a:rPr b="1" sz="1400">
                <a:solidFill>
                  <a:srgbClr val="174C39"/>
                </a:solidFill>
              </a:rPr>
              <a:t>H2 | 4 YOU</a:t>
            </a:r>
            <a:r>
              <a:rPr sz="1400">
                <a:solidFill>
                  <a:srgbClr val="1B2733"/>
                </a:solidFill>
              </a:rPr>
              <a:t>.</a:t>
            </a:r>
          </a:p>
          <a:p>
            <a:pPr>
              <a:spcAft>
                <a:spcPts val="600"/>
              </a:spcAft>
            </a:pPr>
            <a:r>
              <a:rPr sz="1400">
                <a:solidFill>
                  <a:srgbClr val="1B2733"/>
                </a:solidFill>
              </a:rPr>
              <a:t>FastShop is the platform. Your storefront has its own visual identity; FastShop's merchant controls retain FastShop branding.</a:t>
            </a:r>
          </a:p>
          <a:p>
            <a:pPr>
              <a:spcAft>
                <a:spcPts val="600"/>
              </a:spcAft>
            </a:pPr>
            <a:r>
              <a:rPr sz="1400">
                <a:solidFill>
                  <a:srgbClr val="1B2733"/>
                </a:solidFill>
              </a:rPr>
              <a:t>The original brief requested Shopify. The subsequent implementation direction uses </a:t>
            </a:r>
            <a:r>
              <a:rPr b="1" sz="1400">
                <a:solidFill>
                  <a:srgbClr val="174C39"/>
                </a:solidFill>
              </a:rPr>
              <a:t>FastShop's embedded content editor and Stripe boundary</a:t>
            </a:r>
            <a:r>
              <a:rPr sz="1400">
                <a:solidFill>
                  <a:srgbClr val="1B2733"/>
                </a:solidFill>
              </a:rPr>
              <a:t>, not Shopify hosting, Shopify Email or Shopify Subscriptions. No domain/DNS setup is implied.</a:t>
            </a:r>
          </a:p>
        </p:txBody>
      </p:sp>
      <p:pic>
        <p:nvPicPr>
          <p:cNvPr id="5" name="Picture 4" descr="home.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Sign in and choose your building flow</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 Sign in at your FastShop installation's </a:t>
            </a:r>
            <a:r>
              <a:rPr sz="1400">
                <a:solidFill>
                  <a:srgbClr val="174C39"/>
                </a:solidFill>
                <a:latin typeface="Consolas"/>
              </a:rPr>
              <a:t>/login</a:t>
            </a:r>
            <a:r>
              <a:rPr sz="1400">
                <a:solidFill>
                  <a:srgbClr val="1B2733"/>
                </a:solidFill>
              </a:rPr>
              <a:t>.</a:t>
            </a:r>
          </a:p>
          <a:p>
            <a:pPr>
              <a:spcAft>
                <a:spcPts val="600"/>
              </a:spcAft>
            </a:pPr>
            <a:r>
              <a:rPr sz="1400">
                <a:solidFill>
                  <a:srgbClr val="1B2733"/>
                </a:solidFill>
              </a:rPr>
              <a:t>• Open </a:t>
            </a:r>
            <a:r>
              <a:rPr b="1" sz="1400">
                <a:solidFill>
                  <a:srgbClr val="174C39"/>
                </a:solidFill>
              </a:rPr>
              <a:t>Sites &amp; content</a:t>
            </a:r>
            <a:r>
              <a:rPr sz="1400">
                <a:solidFill>
                  <a:srgbClr val="1B2733"/>
                </a:solidFill>
              </a:rPr>
              <a:t> at </a:t>
            </a:r>
            <a:r>
              <a:rPr sz="1400">
                <a:solidFill>
                  <a:srgbClr val="174C39"/>
                </a:solidFill>
                <a:latin typeface="Consolas"/>
              </a:rPr>
              <a:t>/admin/sites</a:t>
            </a:r>
            <a:r>
              <a:rPr sz="1400">
                <a:solidFill>
                  <a:srgbClr val="1B2733"/>
                </a:solidFill>
              </a:rPr>
              <a:t>.</a:t>
            </a:r>
          </a:p>
          <a:p>
            <a:pPr>
              <a:spcAft>
                <a:spcPts val="600"/>
              </a:spcAft>
            </a:pPr>
            <a:r>
              <a:rPr sz="1400">
                <a:solidFill>
                  <a:srgbClr val="1B2733"/>
                </a:solidFill>
              </a:rPr>
              <a:t>• Open </a:t>
            </a:r>
            <a:r>
              <a:rPr b="1" sz="1400">
                <a:solidFill>
                  <a:srgbClr val="174C39"/>
                </a:solidFill>
              </a:rPr>
              <a:t>H2 4 You</a:t>
            </a:r>
            <a:r>
              <a:rPr sz="1400">
                <a:solidFill>
                  <a:srgbClr val="1B2733"/>
                </a:solidFill>
              </a:rPr>
              <a:t>, or enter a new site name and unique slug.</a:t>
            </a:r>
          </a:p>
          <a:p>
            <a:pPr>
              <a:spcAft>
                <a:spcPts val="600"/>
              </a:spcAft>
            </a:pPr>
            <a:r>
              <a:rPr sz="1400">
                <a:solidFill>
                  <a:srgbClr val="1B2733"/>
                </a:solidFill>
              </a:rPr>
              <a:t>• Choose </a:t>
            </a:r>
            <a:r>
              <a:rPr b="1" sz="1400">
                <a:solidFill>
                  <a:srgbClr val="174C39"/>
                </a:solidFill>
              </a:rPr>
              <a:t>Classical editor</a:t>
            </a:r>
            <a:r>
              <a:rPr sz="1400">
                <a:solidFill>
                  <a:srgbClr val="1B2733"/>
                </a:solidFill>
              </a:rPr>
              <a:t> or </a:t>
            </a:r>
            <a:r>
              <a:rPr b="1" sz="1400">
                <a:solidFill>
                  <a:srgbClr val="174C39"/>
                </a:solidFill>
              </a:rPr>
              <a:t>Build with AI / guided presets</a:t>
            </a:r>
            <a:r>
              <a:rPr sz="1400">
                <a:solidFill>
                  <a:srgbClr val="1B2733"/>
                </a:solidFill>
              </a:rPr>
              <a:t>.</a:t>
            </a:r>
          </a:p>
          <a:p>
            <a:pPr>
              <a:spcAft>
                <a:spcPts val="600"/>
              </a:spcAft>
            </a:pPr>
            <a:r>
              <a:rPr sz="1400">
                <a:solidFill>
                  <a:srgbClr val="1B2733"/>
                </a:solidFill>
              </a:rPr>
              <a:t>• Optionally start a new private site with labelled sample merchant details.</a:t>
            </a:r>
          </a:p>
          <a:p>
            <a:pPr>
              <a:spcAft>
                <a:spcPts val="600"/>
              </a:spcAft>
            </a:pPr>
            <a:r>
              <a:rPr sz="1400">
                <a:solidFill>
                  <a:srgbClr val="1B2733"/>
                </a:solidFill>
              </a:rPr>
              <a:t>Both flows edit the same draft. Switching flows does not duplicate the site. For the sample storefront, </a:t>
            </a:r>
            <a:r>
              <a:rPr sz="1400">
                <a:solidFill>
                  <a:srgbClr val="174C39"/>
                </a:solidFill>
                <a:latin typeface="Consolas"/>
              </a:rPr>
              <a:t>/sites/h24you/</a:t>
            </a:r>
            <a:r>
              <a:rPr sz="1400">
                <a:solidFill>
                  <a:srgbClr val="1B2733"/>
                </a:solidFill>
              </a:rPr>
              <a:t> works when its preview is published. The builder's authenticated preview remains the place to inspect unpublished edits.</a:t>
            </a:r>
          </a:p>
        </p:txBody>
      </p:sp>
      <p:pic>
        <p:nvPicPr>
          <p:cNvPr id="5" name="Picture 4" descr="sites.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Plan H24YOU's pages before editing</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731520"/>
          </a:xfrm>
          <a:prstGeom prst="rect">
            <a:avLst/>
          </a:prstGeom>
          <a:noFill/>
        </p:spPr>
        <p:txBody>
          <a:bodyPr wrap="square">
            <a:spAutoFit/>
          </a:bodyPr>
          <a:lstStyle/>
          <a:p>
            <a:pPr>
              <a:spcAft>
                <a:spcPts val="600"/>
              </a:spcAft>
            </a:pPr>
            <a:r>
              <a:rPr sz="1400">
                <a:solidFill>
                  <a:srgbClr val="1B2733"/>
                </a:solidFill>
              </a:rPr>
              <a:t>The seeded example contains </a:t>
            </a:r>
            <a:r>
              <a:rPr b="1" sz="1400">
                <a:solidFill>
                  <a:srgbClr val="174C39"/>
                </a:solidFill>
              </a:rPr>
              <a:t>17 page routes</a:t>
            </a:r>
            <a:r>
              <a:rPr sz="1400">
                <a:solidFill>
                  <a:srgbClr val="1B2733"/>
                </a:solidFill>
              </a:rPr>
              <a:t>. Navigation and legal links are shared settings; articles and product storytelling are editable pages. Underlying product variants and prices are separate catalog records.</a:t>
            </a:r>
          </a:p>
        </p:txBody>
      </p:sp>
      <p:graphicFrame>
        <p:nvGraphicFramePr>
          <p:cNvPr id="5" name="Table 4"/>
          <p:cNvGraphicFramePr>
            <a:graphicFrameLocks noGrp="1"/>
          </p:cNvGraphicFramePr>
          <p:nvPr/>
        </p:nvGraphicFramePr>
        <p:xfrm>
          <a:off x="502920" y="1783080"/>
          <a:ext cx="11185855" cy="4572000"/>
        </p:xfrm>
        <a:graphic>
          <a:graphicData uri="http://schemas.openxmlformats.org/drawingml/2006/table">
            <a:tbl>
              <a:tblPr firstRow="1" bandRow="1">
                <a:tableStyleId>{5C22544A-7EE6-4342-B048-85BDC9FD1C3A}</a:tableStyleId>
              </a:tblPr>
              <a:tblGrid>
                <a:gridCol w="5592927"/>
                <a:gridCol w="5592928"/>
              </a:tblGrid>
              <a:tr h="571500">
                <a:tc>
                  <a:txBody>
                    <a:bodyPr/>
                    <a:lstStyle/>
                    <a:p>
                      <a:r>
                        <a:rPr sz="1000" b="1">
                          <a:solidFill>
                            <a:srgbClr val="FFFFFF"/>
                          </a:solidFill>
                        </a:rPr>
                        <a:t>Area</a:t>
                      </a:r>
                    </a:p>
                  </a:txBody>
                  <a:tcPr marL="54864" marR="54864" marT="9144" marB="9144" anchor="ctr">
                    <a:solidFill>
                      <a:srgbClr val="174C39"/>
                    </a:solidFill>
                  </a:tcPr>
                </a:tc>
                <a:tc>
                  <a:txBody>
                    <a:bodyPr/>
                    <a:lstStyle/>
                    <a:p>
                      <a:r>
                        <a:rPr sz="1000" b="1">
                          <a:solidFill>
                            <a:srgbClr val="FFFFFF"/>
                          </a:solidFill>
                        </a:rPr>
                        <a:t>Pages and purpose</a:t>
                      </a:r>
                    </a:p>
                  </a:txBody>
                  <a:tcPr marL="54864" marR="54864" marT="9144" marB="9144" anchor="ctr">
                    <a:solidFill>
                      <a:srgbClr val="174C39"/>
                    </a:solidFill>
                  </a:tcPr>
                </a:tc>
              </a:tr>
              <a:tr h="571500">
                <a:tc>
                  <a:txBody>
                    <a:bodyPr/>
                    <a:lstStyle/>
                    <a:p>
                      <a:r>
                        <a:rPr sz="1000">
                          <a:solidFill>
                            <a:srgbClr val="1B2733"/>
                          </a:solidFill>
                        </a:rPr>
                        <a:t>Home and Shop</a:t>
                      </a:r>
                    </a:p>
                  </a:txBody>
                  <a:tcPr marL="54864" marR="54864" marT="9144" marB="9144" anchor="ctr">
                    <a:solidFill>
                      <a:srgbClr val="FFFFFF"/>
                    </a:solidFill>
                  </a:tcPr>
                </a:tc>
                <a:tc>
                  <a:txBody>
                    <a:bodyPr/>
                    <a:lstStyle/>
                    <a:p>
                      <a:r>
                        <a:rPr sz="1000">
                          <a:solidFill>
                            <a:srgbClr val="1B2733"/>
                          </a:solidFill>
                        </a:rPr>
                        <a:t>Home, Shop, Hydrogen Tablets collection, Hydrogen Water Bottles collection</a:t>
                      </a:r>
                    </a:p>
                  </a:txBody>
                  <a:tcPr marL="54864" marR="54864" marT="9144" marB="9144" anchor="ctr">
                    <a:solidFill>
                      <a:srgbClr val="FFFFFF"/>
                    </a:solidFill>
                  </a:tcPr>
                </a:tc>
              </a:tr>
              <a:tr h="571500">
                <a:tc>
                  <a:txBody>
                    <a:bodyPr/>
                    <a:lstStyle/>
                    <a:p>
                      <a:r>
                        <a:rPr sz="1000">
                          <a:solidFill>
                            <a:srgbClr val="1B2733"/>
                          </a:solidFill>
                        </a:rPr>
                        <a:t>Products</a:t>
                      </a:r>
                    </a:p>
                  </a:txBody>
                  <a:tcPr marL="54864" marR="54864" marT="9144" marB="9144" anchor="ctr">
                    <a:solidFill>
                      <a:srgbClr val="EEF4FA"/>
                    </a:solidFill>
                  </a:tcPr>
                </a:tc>
                <a:tc>
                  <a:txBody>
                    <a:bodyPr/>
                    <a:lstStyle/>
                    <a:p>
                      <a:r>
                        <a:rPr sz="1000">
                          <a:solidFill>
                            <a:srgbClr val="1B2733"/>
                          </a:solidFill>
                        </a:rPr>
                        <a:t>Hydrogen tablets; Hydroxy Go bottle</a:t>
                      </a:r>
                    </a:p>
                  </a:txBody>
                  <a:tcPr marL="54864" marR="54864" marT="9144" marB="9144" anchor="ctr">
                    <a:solidFill>
                      <a:srgbClr val="EEF4FA"/>
                    </a:solidFill>
                  </a:tcPr>
                </a:tc>
              </a:tr>
              <a:tr h="571500">
                <a:tc>
                  <a:txBody>
                    <a:bodyPr/>
                    <a:lstStyle/>
                    <a:p>
                      <a:r>
                        <a:rPr sz="1000">
                          <a:solidFill>
                            <a:srgbClr val="1B2733"/>
                          </a:solidFill>
                        </a:rPr>
                        <a:t>Science</a:t>
                      </a:r>
                    </a:p>
                  </a:txBody>
                  <a:tcPr marL="54864" marR="54864" marT="9144" marB="9144" anchor="ctr">
                    <a:solidFill>
                      <a:srgbClr val="FFFFFF"/>
                    </a:solidFill>
                  </a:tcPr>
                </a:tc>
                <a:tc>
                  <a:txBody>
                    <a:bodyPr/>
                    <a:lstStyle/>
                    <a:p>
                      <a:r>
                        <a:rPr sz="1000">
                          <a:solidFill>
                            <a:srgbClr val="1B2733"/>
                          </a:solidFill>
                        </a:rPr>
                        <a:t>Research library, source links and grouped research themes</a:t>
                      </a:r>
                    </a:p>
                  </a:txBody>
                  <a:tcPr marL="54864" marR="54864" marT="9144" marB="9144" anchor="ctr">
                    <a:solidFill>
                      <a:srgbClr val="FFFFFF"/>
                    </a:solidFill>
                  </a:tcPr>
                </a:tc>
              </a:tr>
              <a:tr h="571500">
                <a:tc>
                  <a:txBody>
                    <a:bodyPr/>
                    <a:lstStyle/>
                    <a:p>
                      <a:r>
                        <a:rPr sz="1000">
                          <a:solidFill>
                            <a:srgbClr val="1B2733"/>
                          </a:solidFill>
                        </a:rPr>
                        <a:t>Learn</a:t>
                      </a:r>
                    </a:p>
                  </a:txBody>
                  <a:tcPr marL="54864" marR="54864" marT="9144" marB="9144" anchor="ctr">
                    <a:solidFill>
                      <a:srgbClr val="EEF4FA"/>
                    </a:solidFill>
                  </a:tcPr>
                </a:tc>
                <a:tc>
                  <a:txBody>
                    <a:bodyPr/>
                    <a:lstStyle/>
                    <a:p>
                      <a:r>
                        <a:rPr sz="1000">
                          <a:solidFill>
                            <a:srgbClr val="1B2733"/>
                          </a:solidFill>
                        </a:rPr>
                        <a:t>Index plus three educational launch articles</a:t>
                      </a:r>
                    </a:p>
                  </a:txBody>
                  <a:tcPr marL="54864" marR="54864" marT="9144" marB="9144" anchor="ctr">
                    <a:solidFill>
                      <a:srgbClr val="EEF4FA"/>
                    </a:solidFill>
                  </a:tcPr>
                </a:tc>
              </a:tr>
              <a:tr h="571500">
                <a:tc>
                  <a:txBody>
                    <a:bodyPr/>
                    <a:lstStyle/>
                    <a:p>
                      <a:r>
                        <a:rPr sz="1000">
                          <a:solidFill>
                            <a:srgbClr val="1B2733"/>
                          </a:solidFill>
                        </a:rPr>
                        <a:t>Company</a:t>
                      </a:r>
                    </a:p>
                  </a:txBody>
                  <a:tcPr marL="54864" marR="54864" marT="9144" marB="9144" anchor="ctr">
                    <a:solidFill>
                      <a:srgbClr val="FFFFFF"/>
                    </a:solidFill>
                  </a:tcPr>
                </a:tc>
                <a:tc>
                  <a:txBody>
                    <a:bodyPr/>
                    <a:lstStyle/>
                    <a:p>
                      <a:r>
                        <a:rPr sz="1000">
                          <a:solidFill>
                            <a:srgbClr val="1B2733"/>
                          </a:solidFill>
                        </a:rPr>
                        <a:t>About us; Contact</a:t>
                      </a:r>
                    </a:p>
                  </a:txBody>
                  <a:tcPr marL="54864" marR="54864" marT="9144" marB="9144" anchor="ctr">
                    <a:solidFill>
                      <a:srgbClr val="FFFFFF"/>
                    </a:solidFill>
                  </a:tcPr>
                </a:tc>
              </a:tr>
              <a:tr h="571500">
                <a:tc>
                  <a:txBody>
                    <a:bodyPr/>
                    <a:lstStyle/>
                    <a:p>
                      <a:r>
                        <a:rPr sz="1000">
                          <a:solidFill>
                            <a:srgbClr val="1B2733"/>
                          </a:solidFill>
                        </a:rPr>
                        <a:t>Policies</a:t>
                      </a:r>
                    </a:p>
                  </a:txBody>
                  <a:tcPr marL="54864" marR="54864" marT="9144" marB="9144" anchor="ctr">
                    <a:solidFill>
                      <a:srgbClr val="EEF4FA"/>
                    </a:solidFill>
                  </a:tcPr>
                </a:tc>
                <a:tc>
                  <a:txBody>
                    <a:bodyPr/>
                    <a:lstStyle/>
                    <a:p>
                      <a:r>
                        <a:rPr sz="1000">
                          <a:solidFill>
                            <a:srgbClr val="1B2733"/>
                          </a:solidFill>
                        </a:rPr>
                        <a:t>Terms and Conditions; Privacy Policy; FAQ; Returns and Refunds</a:t>
                      </a:r>
                    </a:p>
                  </a:txBody>
                  <a:tcPr marL="54864" marR="54864" marT="9144" marB="9144" anchor="ctr">
                    <a:solidFill>
                      <a:srgbClr val="EEF4FA"/>
                    </a:solidFill>
                  </a:tcPr>
                </a:tc>
              </a:tr>
              <a:tr h="571500">
                <a:tc>
                  <a:txBody>
                    <a:bodyPr/>
                    <a:lstStyle/>
                    <a:p>
                      <a:r>
                        <a:rPr sz="1000">
                          <a:solidFill>
                            <a:srgbClr val="1B2733"/>
                          </a:solidFill>
                        </a:rPr>
                        <a:t>Shared components</a:t>
                      </a:r>
                    </a:p>
                  </a:txBody>
                  <a:tcPr marL="54864" marR="54864" marT="9144" marB="9144" anchor="ctr">
                    <a:solidFill>
                      <a:srgbClr val="FFFFFF"/>
                    </a:solidFill>
                  </a:tcPr>
                </a:tc>
                <a:tc>
                  <a:txBody>
                    <a:bodyPr/>
                    <a:lstStyle/>
                    <a:p>
                      <a:r>
                        <a:rPr sz="1000">
                          <a:solidFill>
                            <a:srgbClr val="1B2733"/>
                          </a:solidFill>
                        </a:rPr>
                        <a:t>Header, menu, footer, announcement, first-order banner, cookie preferences</a:t>
                      </a:r>
                    </a:p>
                  </a:txBody>
                  <a:tcPr marL="54864" marR="54864" marT="9144" marB="9144" anchor="ctr">
                    <a:solidFill>
                      <a:srgbClr val="FFFFFF"/>
                    </a:solidFill>
                  </a:tcPr>
                </a:tc>
              </a:tr>
            </a:tbl>
          </a:graphicData>
        </a:graphic>
      </p:graphicFrame>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94360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38912"/>
            <a:ext cx="73152" cy="5943600"/>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143000"/>
            <a:ext cx="2743200" cy="457200"/>
          </a:xfrm>
          <a:prstGeom prst="rect">
            <a:avLst/>
          </a:prstGeom>
          <a:noFill/>
        </p:spPr>
        <p:txBody>
          <a:bodyPr wrap="none">
            <a:spAutoFit/>
          </a:bodyPr>
          <a:lstStyle/>
          <a:p>
            <a:r>
              <a:rPr sz="1200" b="1">
                <a:solidFill>
                  <a:srgbClr val="D6E6F5"/>
                </a:solidFill>
              </a:rPr>
              <a:t>SECTION 02</a:t>
            </a:r>
          </a:p>
        </p:txBody>
      </p:sp>
      <p:sp>
        <p:nvSpPr>
          <p:cNvPr id="5" name="TextBox 4"/>
          <p:cNvSpPr txBox="1"/>
          <p:nvPr/>
        </p:nvSpPr>
        <p:spPr>
          <a:xfrm>
            <a:off x="1143000" y="1874519"/>
            <a:ext cx="10180015" cy="3200400"/>
          </a:xfrm>
          <a:prstGeom prst="rect">
            <a:avLst/>
          </a:prstGeom>
          <a:noFill/>
        </p:spPr>
        <p:txBody>
          <a:bodyPr wrap="square">
            <a:spAutoFit/>
          </a:bodyPr>
          <a:lstStyle/>
          <a:p>
            <a:r>
              <a:rPr sz="4200" b="1">
                <a:solidFill>
                  <a:srgbClr val="FFFFFF"/>
                </a:solidFill>
              </a:rPr>
              <a:t>Build with classical controls</a:t>
            </a:r>
          </a:p>
          <a:p>
            <a:pPr>
              <a:spcBef>
                <a:spcPts val="1600"/>
              </a:spcBef>
            </a:pPr>
            <a:r>
              <a:rPr sz="1800">
                <a:solidFill>
                  <a:srgbClr val="D6E6F5"/>
                </a:solidFill>
              </a:rPr>
              <a:t>Use forms when you know exactly what to change. Save drafts, preview them and publish deliberately. These are the same drafts that chat edits.</a:t>
            </a:r>
          </a:p>
        </p:txBody>
      </p:sp>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Brand, navigation, banner and footer</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Open the </a:t>
            </a:r>
            <a:r>
              <a:rPr b="1" sz="1400">
                <a:solidFill>
                  <a:srgbClr val="174C39"/>
                </a:solidFill>
              </a:rPr>
              <a:t>Classical editor</a:t>
            </a:r>
            <a:r>
              <a:rPr sz="1400">
                <a:solidFill>
                  <a:srgbClr val="1B2733"/>
                </a:solidFill>
              </a:rPr>
              <a:t>. In </a:t>
            </a:r>
            <a:r>
              <a:rPr b="1" sz="1400">
                <a:solidFill>
                  <a:srgbClr val="174C39"/>
                </a:solidFill>
              </a:rPr>
              <a:t>Brand and shared content</a:t>
            </a:r>
            <a:r>
              <a:rPr sz="1400">
                <a:solidFill>
                  <a:srgbClr val="1B2733"/>
                </a:solidFill>
              </a:rPr>
              <a:t>, edit the brand name, tagline, contact email, company details, announcement and first-order banner. Set menu labels/paths, social links, research figures and the footer disclaimer here.</a:t>
            </a:r>
          </a:p>
          <a:p>
            <a:pPr>
              <a:spcAft>
                <a:spcPts val="600"/>
              </a:spcAft>
            </a:pPr>
            <a:r>
              <a:rPr sz="1400">
                <a:solidFill>
                  <a:srgbClr val="1B2733"/>
                </a:solidFill>
              </a:rPr>
              <a:t>For H24YOU, keep </a:t>
            </a:r>
            <a:r>
              <a:rPr b="1" sz="1400">
                <a:solidFill>
                  <a:srgbClr val="174C39"/>
                </a:solidFill>
              </a:rPr>
              <a:t>Shop, Science, Learn, About us, Contact</a:t>
            </a:r>
            <a:r>
              <a:rPr sz="1400">
                <a:solidFill>
                  <a:srgbClr val="1B2733"/>
                </a:solidFill>
              </a:rPr>
              <a:t> in the main menu. Use the supplied dark logo on light backgrounds and the light logo on dark media.</a:t>
            </a:r>
          </a:p>
          <a:p>
            <a:pPr>
              <a:spcAft>
                <a:spcPts val="600"/>
              </a:spcAft>
            </a:pPr>
            <a:r>
              <a:rPr sz="1400">
                <a:solidFill>
                  <a:srgbClr val="1B2733"/>
                </a:solidFill>
              </a:rPr>
              <a:t>Choose </a:t>
            </a:r>
            <a:r>
              <a:rPr b="1" sz="1400">
                <a:solidFill>
                  <a:srgbClr val="174C39"/>
                </a:solidFill>
              </a:rPr>
              <a:t>Save draft settings</a:t>
            </a:r>
            <a:r>
              <a:rPr sz="1400">
                <a:solidFill>
                  <a:srgbClr val="1B2733"/>
                </a:solidFill>
              </a:rPr>
              <a:t> first. </a:t>
            </a:r>
            <a:r>
              <a:rPr b="1" sz="1400">
                <a:solidFill>
                  <a:srgbClr val="174C39"/>
                </a:solidFill>
              </a:rPr>
              <a:t>Publish shared settings</a:t>
            </a:r>
            <a:r>
              <a:rPr sz="1400">
                <a:solidFill>
                  <a:srgbClr val="1B2733"/>
                </a:solidFill>
              </a:rPr>
              <a:t> exposes the reviewed shared content. The brief's legal address is a placeholder—not a confirmed warehouse address. Changing a reviewed merchant value requires another review.</a:t>
            </a:r>
          </a:p>
        </p:txBody>
      </p:sp>
      <p:pic>
        <p:nvPicPr>
          <p:cNvPr id="5" name="Picture 4" descr="settings.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Edit a page without code</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 Open the page from the site's page list.</a:t>
            </a:r>
          </a:p>
          <a:p>
            <a:pPr>
              <a:spcAft>
                <a:spcPts val="600"/>
              </a:spcAft>
            </a:pPr>
            <a:r>
              <a:rPr sz="1400">
                <a:solidFill>
                  <a:srgbClr val="1B2733"/>
                </a:solidFill>
              </a:rPr>
              <a:t>• Edit its title and SEO description.</a:t>
            </a:r>
          </a:p>
          <a:p>
            <a:pPr>
              <a:spcAft>
                <a:spcPts val="600"/>
              </a:spcAft>
            </a:pPr>
            <a:r>
              <a:rPr sz="1400">
                <a:solidFill>
                  <a:srgbClr val="1B2733"/>
                </a:solidFill>
              </a:rPr>
              <a:t>• Expand a content section to change its heading, body, image or link.</a:t>
            </a:r>
          </a:p>
          <a:p>
            <a:pPr>
              <a:spcAft>
                <a:spcPts val="600"/>
              </a:spcAft>
            </a:pPr>
            <a:r>
              <a:rPr sz="1400">
                <a:solidFill>
                  <a:srgbClr val="1B2733"/>
                </a:solidFill>
              </a:rPr>
              <a:t>• Add supported sections; reorder or remove them using the editor controls.</a:t>
            </a:r>
          </a:p>
          <a:p>
            <a:pPr>
              <a:spcAft>
                <a:spcPts val="600"/>
              </a:spcAft>
            </a:pPr>
            <a:r>
              <a:rPr sz="1400">
                <a:solidFill>
                  <a:srgbClr val="1B2733"/>
                </a:solidFill>
              </a:rPr>
              <a:t>• Choose </a:t>
            </a:r>
            <a:r>
              <a:rPr b="1" sz="1400">
                <a:solidFill>
                  <a:srgbClr val="174C39"/>
                </a:solidFill>
              </a:rPr>
              <a:t>Save draft</a:t>
            </a:r>
            <a:r>
              <a:rPr sz="1400">
                <a:solidFill>
                  <a:srgbClr val="1B2733"/>
                </a:solidFill>
              </a:rPr>
              <a:t> and inspect the private preview.</a:t>
            </a:r>
          </a:p>
          <a:p>
            <a:pPr>
              <a:spcAft>
                <a:spcPts val="600"/>
              </a:spcAft>
            </a:pPr>
            <a:r>
              <a:rPr sz="1400">
                <a:solidFill>
                  <a:srgbClr val="1B2733"/>
                </a:solidFill>
              </a:rPr>
              <a:t>• Use </a:t>
            </a:r>
            <a:r>
              <a:rPr b="1" sz="1400">
                <a:solidFill>
                  <a:srgbClr val="174C39"/>
                </a:solidFill>
              </a:rPr>
              <a:t>Publish page</a:t>
            </a:r>
            <a:r>
              <a:rPr sz="1400">
                <a:solidFill>
                  <a:srgbClr val="1B2733"/>
                </a:solidFill>
              </a:rPr>
              <a:t> only after review.</a:t>
            </a:r>
          </a:p>
          <a:p>
            <a:pPr>
              <a:spcAft>
                <a:spcPts val="600"/>
              </a:spcAft>
            </a:pPr>
            <a:r>
              <a:rPr sz="1400">
                <a:solidFill>
                  <a:srgbClr val="1B2733"/>
                </a:solidFill>
              </a:rPr>
              <a:t>For H24YOU's home page, retain the sequence: hero, products, research counters, research introduction, clearly labelled review area and latest Learn articles. Page revisions allow restoration; a draft save alone does not replace published content.</a:t>
            </a:r>
          </a:p>
        </p:txBody>
      </p:sp>
      <p:pic>
        <p:nvPicPr>
          <p:cNvPr id="5" name="Picture 4" descr="page-editor.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Product records versus product pages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Use </a:t>
            </a:r>
            <a:r>
              <a:rPr b="1" sz="1400">
                <a:solidFill>
                  <a:srgbClr val="174C39"/>
                </a:solidFill>
              </a:rPr>
              <a:t>Products</a:t>
            </a:r>
            <a:r>
              <a:rPr sz="1400">
                <a:solidFill>
                  <a:srgbClr val="1B2733"/>
                </a:solidFill>
              </a:rPr>
              <a:t> for names, variants, product images and prices. Use the page editor for the gallery, introduction, accordions and supporting content.</a:t>
            </a:r>
          </a:p>
          <a:p>
            <a:pPr>
              <a:spcAft>
                <a:spcPts val="600"/>
              </a:spcAft>
            </a:pPr>
            <a:r>
              <a:rPr sz="1400">
                <a:solidFill>
                  <a:srgbClr val="1B2733"/>
                </a:solidFill>
              </a:rPr>
              <a:t>• Tablets: Unflavoured, Raspberry and Pineapple.</a:t>
            </a:r>
          </a:p>
          <a:p>
            <a:pPr>
              <a:spcAft>
                <a:spcPts val="600"/>
              </a:spcAft>
            </a:pPr>
            <a:r>
              <a:rPr sz="1400">
                <a:solidFill>
                  <a:srgbClr val="1B2733"/>
                </a:solidFill>
              </a:rPr>
              <a:t>• The brief's </a:t>
            </a:r>
            <a:r>
              <a:rPr b="1" sz="1400">
                <a:solidFill>
                  <a:srgbClr val="174C39"/>
                </a:solidFill>
              </a:rPr>
              <a:t>$29.95</a:t>
            </a:r>
            <a:r>
              <a:rPr sz="1400">
                <a:solidFill>
                  <a:srgbClr val="1B2733"/>
                </a:solidFill>
              </a:rPr>
              <a:t> price is </a:t>
            </a:r>
            <a:r>
              <a:rPr b="1" sz="1400">
                <a:solidFill>
                  <a:srgbClr val="174C39"/>
                </a:solidFill>
              </a:rPr>
              <a:t>2995 USD cents</a:t>
            </a:r>
            <a:r>
              <a:rPr sz="1400">
                <a:solidFill>
                  <a:srgbClr val="1B2733"/>
                </a:solidFill>
              </a:rPr>
              <a:t> and remains provisional.</a:t>
            </a:r>
          </a:p>
          <a:p>
            <a:pPr>
              <a:spcAft>
                <a:spcPts val="600"/>
              </a:spcAft>
            </a:pPr>
            <a:r>
              <a:rPr sz="1400">
                <a:solidFill>
                  <a:srgbClr val="1B2733"/>
                </a:solidFill>
              </a:rPr>
              <a:t>• The bottle's final USD price must be supplied; do not invent a conversion.</a:t>
            </a:r>
          </a:p>
          <a:p>
            <a:pPr>
              <a:spcAft>
                <a:spcPts val="600"/>
              </a:spcAft>
            </a:pPr>
            <a:r>
              <a:rPr sz="1400">
                <a:solidFill>
                  <a:srgbClr val="1B2733"/>
                </a:solidFill>
              </a:rPr>
              <a:t>• Leave ingredients and Supplement Facts visibly pending until supplied.</a:t>
            </a:r>
          </a:p>
          <a:p>
            <a:pPr>
              <a:spcAft>
                <a:spcPts val="600"/>
              </a:spcAft>
            </a:pPr>
            <a:r>
              <a:rPr sz="1400">
                <a:solidFill>
                  <a:srgbClr val="1B2733"/>
                </a:solidFill>
              </a:rPr>
              <a:t>Catalog changes can affect operational prices immediately; they are not page-draft edits. Configure monthly tablet eligibility separately in </a:t>
            </a:r>
            <a:r>
              <a:rPr b="1" sz="1400">
                <a:solidFill>
                  <a:srgbClr val="174C39"/>
                </a:solidFill>
              </a:rPr>
              <a:t>Commerce</a:t>
            </a:r>
            <a:r>
              <a:rPr sz="1400">
                <a:solidFill>
                  <a:srgbClr val="1B2733"/>
                </a:solidFill>
              </a:rPr>
              <a:t>. The bottle should not inherit tablet subscription eligibility.</a:t>
            </a:r>
          </a:p>
        </p:txBody>
      </p:sp>
      <p:pic>
        <p:nvPicPr>
          <p:cNvPr id="5" name="Picture 4" descr="catalog.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Replace media and preview mobile layouts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Upload approved images through </a:t>
            </a:r>
            <a:r>
              <a:rPr b="1" sz="1400">
                <a:solidFill>
                  <a:srgbClr val="174C39"/>
                </a:solidFill>
              </a:rPr>
              <a:t>Media library</a:t>
            </a:r>
            <a:r>
              <a:rPr sz="1400">
                <a:solidFill>
                  <a:srgbClr val="1B2733"/>
                </a:solidFill>
              </a:rPr>
              <a:t>, with meaningful alt text. Copy the resulting URL into the page's image field. Keep placeholder labels until the asset is genuinely replaced.</a:t>
            </a:r>
          </a:p>
          <a:p>
            <a:pPr>
              <a:spcAft>
                <a:spcPts val="600"/>
              </a:spcAft>
            </a:pPr>
            <a:r>
              <a:rPr sz="1400">
                <a:solidFill>
                  <a:srgbClr val="1B2733"/>
                </a:solidFill>
              </a:rPr>
              <a:t>H24YOU's supplied SVG logos are brand assets; generated product/lifestyle images and motion studies are concepts, not actual product or customer photography.</a:t>
            </a:r>
          </a:p>
          <a:p>
            <a:pPr>
              <a:spcAft>
                <a:spcPts val="600"/>
              </a:spcAft>
            </a:pPr>
            <a:r>
              <a:rPr sz="1400">
                <a:solidFill>
                  <a:srgbClr val="1B2733"/>
                </a:solidFill>
              </a:rPr>
              <a:t>Inspect phone, tablet and desktop layouts. Check the mobile menu, product gallery, readable text, focus states and video pause control. The brief requests a compressed hero with a mobile fallback; the final media still needs merchant approval.</a:t>
            </a:r>
          </a:p>
        </p:txBody>
      </p:sp>
      <p:pic>
        <p:nvPicPr>
          <p:cNvPr id="5" name="Picture 4" descr="mobile-home.png"/>
          <p:cNvPicPr>
            <a:picLocks noChangeAspect="1"/>
          </p:cNvPicPr>
          <p:nvPr/>
        </p:nvPicPr>
        <p:blipFill>
          <a:blip r:embed="rId2"/>
          <a:stretch>
            <a:fillRect/>
          </a:stretch>
        </p:blipFill>
        <p:spPr>
          <a:xfrm>
            <a:off x="6492240" y="1280160"/>
            <a:ext cx="2366172" cy="512064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Science and Learn: edit, source, review</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The brief supplies counters </a:t>
            </a:r>
            <a:r>
              <a:rPr b="1" sz="1400">
                <a:solidFill>
                  <a:srgbClr val="174C39"/>
                </a:solidFill>
              </a:rPr>
              <a:t>2,000+</a:t>
            </a:r>
            <a:r>
              <a:rPr sz="1400">
                <a:solidFill>
                  <a:srgbClr val="1B2733"/>
                </a:solidFill>
              </a:rPr>
              <a:t>, </a:t>
            </a:r>
            <a:r>
              <a:rPr b="1" sz="1400">
                <a:solidFill>
                  <a:srgbClr val="174C39"/>
                </a:solidFill>
              </a:rPr>
              <a:t>120+</a:t>
            </a:r>
            <a:r>
              <a:rPr sz="1400">
                <a:solidFill>
                  <a:srgbClr val="1B2733"/>
                </a:solidFill>
              </a:rPr>
              <a:t> and </a:t>
            </a:r>
            <a:r>
              <a:rPr b="1" sz="1400">
                <a:solidFill>
                  <a:srgbClr val="174C39"/>
                </a:solidFill>
              </a:rPr>
              <a:t>68</a:t>
            </a:r>
            <a:r>
              <a:rPr sz="1400">
                <a:solidFill>
                  <a:srgbClr val="1B2733"/>
                </a:solidFill>
              </a:rPr>
              <a:t>. These are supplied draft figures, not figures verified by this guide. Keep the source and confirmation date visible, and recheck them before publishing.</a:t>
            </a:r>
          </a:p>
          <a:p>
            <a:pPr>
              <a:spcAft>
                <a:spcPts val="600"/>
              </a:spcAft>
            </a:pPr>
            <a:r>
              <a:rPr sz="1400">
                <a:solidFill>
                  <a:srgbClr val="1B2733"/>
                </a:solidFill>
              </a:rPr>
              <a:t>Use neutral research descriptions and original-source links. Do not place product buy buttons inside study lists. Keep unapproved benefit statements disabled in shared settings; an AI edit is not regulatory approval.</a:t>
            </a:r>
          </a:p>
          <a:p>
            <a:pPr>
              <a:spcAft>
                <a:spcPts val="600"/>
              </a:spcAft>
            </a:pPr>
            <a:r>
              <a:rPr sz="1400">
                <a:solidFill>
                  <a:srgbClr val="1B2733"/>
                </a:solidFill>
              </a:rPr>
              <a:t>Learn has three draft launch articles. Review the full text, author label, source links and study-reference boxes before publication. The prompt library later in this guide identifies each article and its brief-supplied references.</a:t>
            </a:r>
          </a:p>
        </p:txBody>
      </p:sp>
      <p:pic>
        <p:nvPicPr>
          <p:cNvPr id="5" name="Picture 4" descr="science.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Contact, cookies and analytics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Set </a:t>
            </a:r>
            <a:r>
              <a:rPr b="1" sz="1400">
                <a:solidFill>
                  <a:srgbClr val="174C39"/>
                </a:solidFill>
              </a:rPr>
              <a:t>info@h24you.com</a:t>
            </a:r>
            <a:r>
              <a:rPr sz="1400">
                <a:solidFill>
                  <a:srgbClr val="1B2733"/>
                </a:solidFill>
              </a:rPr>
              <a:t> as the brief's contact destination, then verify delivery in the deployed environment. Contact entries are retained in </a:t>
            </a:r>
            <a:r>
              <a:rPr b="1" sz="1400">
                <a:solidFill>
                  <a:srgbClr val="174C39"/>
                </a:solidFill>
              </a:rPr>
              <a:t>Inbox</a:t>
            </a:r>
            <a:r>
              <a:rPr sz="1400">
                <a:solidFill>
                  <a:srgbClr val="1B2733"/>
                </a:solidFill>
              </a:rPr>
              <a:t>; a stored entry is not proof that an email was delivered.</a:t>
            </a:r>
          </a:p>
          <a:p>
            <a:pPr>
              <a:spcAft>
                <a:spcPts val="600"/>
              </a:spcAft>
            </a:pPr>
            <a:r>
              <a:rPr sz="1400">
                <a:solidFill>
                  <a:srgbClr val="1B2733"/>
                </a:solidFill>
              </a:rPr>
              <a:t>Review cookie </a:t>
            </a:r>
            <a:r>
              <a:rPr b="1" sz="1400">
                <a:solidFill>
                  <a:srgbClr val="174C39"/>
                </a:solidFill>
              </a:rPr>
              <a:t>Accept</a:t>
            </a:r>
            <a:r>
              <a:rPr sz="1400">
                <a:solidFill>
                  <a:srgbClr val="1B2733"/>
                </a:solidFill>
              </a:rPr>
              <a:t>, </a:t>
            </a:r>
            <a:r>
              <a:rPr b="1" sz="1400">
                <a:solidFill>
                  <a:srgbClr val="174C39"/>
                </a:solidFill>
              </a:rPr>
              <a:t>Decline</a:t>
            </a:r>
            <a:r>
              <a:rPr sz="1400">
                <a:solidFill>
                  <a:srgbClr val="1B2733"/>
                </a:solidFill>
              </a:rPr>
              <a:t> and </a:t>
            </a:r>
            <a:r>
              <a:rPr b="1" sz="1400">
                <a:solidFill>
                  <a:srgbClr val="174C39"/>
                </a:solidFill>
              </a:rPr>
              <a:t>Preferences</a:t>
            </a:r>
            <a:r>
              <a:rPr sz="1400">
                <a:solidFill>
                  <a:srgbClr val="1B2733"/>
                </a:solidFill>
              </a:rPr>
              <a:t> behavior. Optional GA4 is configured in shared settings and should load only after analytics consent on public pages. Private previews are not an analytics acceptance test.</a:t>
            </a:r>
          </a:p>
          <a:p>
            <a:pPr>
              <a:spcAft>
                <a:spcPts val="600"/>
              </a:spcAft>
            </a:pPr>
            <a:r>
              <a:rPr sz="1400">
                <a:solidFill>
                  <a:srgbClr val="1B2733"/>
                </a:solidFill>
              </a:rPr>
              <a:t>The brief says </a:t>
            </a:r>
            <a:r>
              <a:rPr b="1" sz="1400">
                <a:solidFill>
                  <a:srgbClr val="174C39"/>
                </a:solidFill>
              </a:rPr>
              <a:t>no Meta pixel yet</a:t>
            </a:r>
            <a:r>
              <a:rPr sz="1400">
                <a:solidFill>
                  <a:srgbClr val="1B2733"/>
                </a:solidFill>
              </a:rPr>
              <a:t>. Marketing opt-in is separate from contact messages and account/order email. Replace privacy and other legal placeholders with reviewed text before public launch.</a:t>
            </a:r>
          </a:p>
        </p:txBody>
      </p:sp>
      <p:pic>
        <p:nvPicPr>
          <p:cNvPr id="5" name="Picture 4" descr="learn.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94360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38912"/>
            <a:ext cx="73152" cy="5943600"/>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143000"/>
            <a:ext cx="2743200" cy="457200"/>
          </a:xfrm>
          <a:prstGeom prst="rect">
            <a:avLst/>
          </a:prstGeom>
          <a:noFill/>
        </p:spPr>
        <p:txBody>
          <a:bodyPr wrap="none">
            <a:spAutoFit/>
          </a:bodyPr>
          <a:lstStyle/>
          <a:p>
            <a:r>
              <a:rPr sz="1200" b="1">
                <a:solidFill>
                  <a:srgbClr val="D6E6F5"/>
                </a:solidFill>
              </a:rPr>
              <a:t>SECTION 03</a:t>
            </a:r>
          </a:p>
        </p:txBody>
      </p:sp>
      <p:sp>
        <p:nvSpPr>
          <p:cNvPr id="5" name="TextBox 4"/>
          <p:cNvSpPr txBox="1"/>
          <p:nvPr/>
        </p:nvSpPr>
        <p:spPr>
          <a:xfrm>
            <a:off x="1143000" y="1874519"/>
            <a:ext cx="10180015" cy="3200400"/>
          </a:xfrm>
          <a:prstGeom prst="rect">
            <a:avLst/>
          </a:prstGeom>
          <a:noFill/>
        </p:spPr>
        <p:txBody>
          <a:bodyPr wrap="square">
            <a:spAutoFit/>
          </a:bodyPr>
          <a:lstStyle/>
          <a:p>
            <a:r>
              <a:rPr sz="4200" b="1">
                <a:solidFill>
                  <a:srgbClr val="FFFFFF"/>
                </a:solidFill>
              </a:rPr>
              <a:t>Build with chat</a:t>
            </a:r>
          </a:p>
          <a:p>
            <a:pPr>
              <a:spcBef>
                <a:spcPts val="1600"/>
              </a:spcBef>
            </a:pPr>
            <a:r>
              <a:rPr sz="1800">
                <a:solidFill>
                  <a:srgbClr val="D6E6F5"/>
                </a:solidFill>
              </a:rPr>
              <a:t>Ask for one focused change, inspect the actual draft and keep editorial control. The following prompt library turns the H24YOU brief into repeatable tasks.</a:t>
            </a:r>
          </a:p>
        </p:txBody>
      </p:sp>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The chat workspace and its limits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Choose </a:t>
            </a:r>
            <a:r>
              <a:rPr b="1" sz="1400">
                <a:solidFill>
                  <a:srgbClr val="174C39"/>
                </a:solidFill>
              </a:rPr>
              <a:t>Build with AI</a:t>
            </a:r>
            <a:r>
              <a:rPr sz="1400">
                <a:solidFill>
                  <a:srgbClr val="1B2733"/>
                </a:solidFill>
              </a:rPr>
              <a:t>. Select a page, then use </a:t>
            </a:r>
            <a:r>
              <a:rPr b="1" sz="1400">
                <a:solidFill>
                  <a:srgbClr val="174C39"/>
                </a:solidFill>
              </a:rPr>
              <a:t>Select section</a:t>
            </a:r>
            <a:r>
              <a:rPr sz="1400">
                <a:solidFill>
                  <a:srgbClr val="1B2733"/>
                </a:solidFill>
              </a:rPr>
              <a:t> or </a:t>
            </a:r>
            <a:r>
              <a:rPr b="1" sz="1400">
                <a:solidFill>
                  <a:srgbClr val="174C39"/>
                </a:solidFill>
              </a:rPr>
              <a:t>Target section</a:t>
            </a:r>
            <a:r>
              <a:rPr sz="1400">
                <a:solidFill>
                  <a:srgbClr val="1B2733"/>
                </a:solidFill>
              </a:rPr>
              <a:t> to focus the request. The preview refreshes after a validated draft save. On phones, switch between </a:t>
            </a:r>
            <a:r>
              <a:rPr b="1" sz="1400">
                <a:solidFill>
                  <a:srgbClr val="174C39"/>
                </a:solidFill>
              </a:rPr>
              <a:t>Editor</a:t>
            </a:r>
            <a:r>
              <a:rPr sz="1400">
                <a:solidFill>
                  <a:srgbClr val="1B2733"/>
                </a:solidFill>
              </a:rPr>
              <a:t> and </a:t>
            </a:r>
            <a:r>
              <a:rPr b="1" sz="1400">
                <a:solidFill>
                  <a:srgbClr val="174C39"/>
                </a:solidFill>
              </a:rPr>
              <a:t>Preview</a:t>
            </a:r>
            <a:r>
              <a:rPr sz="1400">
                <a:solidFill>
                  <a:srgbClr val="1B2733"/>
                </a:solidFill>
              </a:rPr>
              <a:t>.</a:t>
            </a:r>
          </a:p>
          <a:p>
            <a:pPr>
              <a:spcAft>
                <a:spcPts val="600"/>
              </a:spcAft>
            </a:pPr>
            <a:r>
              <a:rPr sz="1400">
                <a:solidFill>
                  <a:srgbClr val="1B2733"/>
                </a:solidFill>
              </a:rPr>
              <a:t>With a configured model, use the natural-language prompts on the following pages. The server accepts only supported structured edits—not arbitrary code, payments or autonomous publication.</a:t>
            </a:r>
          </a:p>
          <a:p>
            <a:pPr>
              <a:spcAft>
                <a:spcPts val="600"/>
              </a:spcAft>
            </a:pPr>
            <a:r>
              <a:rPr sz="1400">
                <a:solidFill>
                  <a:srgbClr val="1B2733"/>
                </a:solidFill>
              </a:rPr>
              <a:t>Without a key, the label says </a:t>
            </a:r>
            <a:r>
              <a:rPr b="1" sz="1400">
                <a:solidFill>
                  <a:srgbClr val="174C39"/>
                </a:solidFill>
              </a:rPr>
              <a:t>Guided presets · AI provider not configured</a:t>
            </a:r>
            <a:r>
              <a:rPr sz="1400">
                <a:solidFill>
                  <a:srgbClr val="1B2733"/>
                </a:solidFill>
              </a:rPr>
              <a:t>. The screenshot contains a prepared natural-language request, not evidence that an LLM executed it. Do not paste the entire brief: messages are limited to 4,000 characters.</a:t>
            </a:r>
          </a:p>
        </p:txBody>
      </p:sp>
      <p:pic>
        <p:nvPicPr>
          <p:cNvPr id="5" name="Picture 4" descr="chat.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Start with the brief's original phase instruction</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5394960"/>
          </a:xfrm>
          <a:prstGeom prst="rect">
            <a:avLst/>
          </a:prstGeom>
          <a:noFill/>
        </p:spPr>
        <p:txBody>
          <a:bodyPr wrap="square">
            <a:spAutoFit/>
          </a:bodyPr>
          <a:lstStyle/>
          <a:p>
            <a:pPr>
              <a:spcAft>
                <a:spcPts val="600"/>
              </a:spcAft>
            </a:pPr>
            <a:r>
              <a:rPr b="1" sz="1400">
                <a:solidFill>
                  <a:srgbClr val="174C39"/>
                </a:solidFill>
              </a:rPr>
              <a:t>Original wording — brief §0.</a:t>
            </a:r>
            <a:r>
              <a:rPr sz="1400">
                <a:solidFill>
                  <a:srgbClr val="1B2733"/>
                </a:solidFill>
              </a:rPr>
              <a:t> Use this to establish the review boundary; it is an instruction to the assistant, not a substitute for the publication controls.</a:t>
            </a:r>
          </a:p>
          <a:p>
            <a:pPr>
              <a:spcAft>
                <a:spcPts val="600"/>
              </a:spcAft>
            </a:pPr>
            <a:r>
              <a:rPr sz="1400">
                <a:solidFill>
                  <a:srgbClr val="1B2733"/>
                </a:solidFill>
              </a:rPr>
              <a:t>Build in two phases and show me the result of Phase 1 before starting Phase 2.  Phase 1 – Design and content: home page, Shop, product pages, Science, Learn (3 articles), About us, Contact, header, footer, banner, cookie banner.  Phase 2 – Commerce: subscriptions, tax and shipping settings, checkout, discount codes, My account, order tracking, email capture.  If any instruction here is unclear or two instructions conflict, ask me before guessing.</a:t>
            </a:r>
          </a:p>
          <a:p>
            <a:pPr>
              <a:spcAft>
                <a:spcPts val="600"/>
              </a:spcAft>
            </a:pPr>
            <a:r>
              <a:rPr sz="1400">
                <a:solidFill>
                  <a:srgbClr val="1B2733"/>
                </a:solidFill>
              </a:rPr>
              <a:t>For this FastShop implementation, add: </a:t>
            </a:r>
            <a:r>
              <a:rPr b="1" sz="1400">
                <a:solidFill>
                  <a:srgbClr val="174C39"/>
                </a:solidFill>
              </a:rPr>
              <a:t>“Use FastShop's existing components. Keep all edits as drafts. Do not enable commerce or publish without my approval.”</a:t>
            </a:r>
          </a:p>
        </p:txBody>
      </p:sp>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Save your H24YOU brief one answer at a time</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5394960"/>
          </a:xfrm>
          <a:prstGeom prst="rect">
            <a:avLst/>
          </a:prstGeom>
          <a:noFill/>
        </p:spPr>
        <p:txBody>
          <a:bodyPr wrap="square">
            <a:spAutoFit/>
          </a:bodyPr>
          <a:lstStyle/>
          <a:p>
            <a:pPr>
              <a:spcAft>
                <a:spcPts val="600"/>
              </a:spcAft>
            </a:pPr>
            <a:r>
              <a:rPr b="1" sz="1400">
                <a:solidFill>
                  <a:srgbClr val="174C39"/>
                </a:solidFill>
              </a:rPr>
              <a:t>Copy-ready guided commands — adapted from brief §§1, 3 and 5.</a:t>
            </a:r>
            <a:r>
              <a:rPr sz="1400">
                <a:solidFill>
                  <a:srgbClr val="1B2733"/>
                </a:solidFill>
              </a:rPr>
              <a:t> These work in the labelled preset fallback as well as providing a useful outline for AI chat.</a:t>
            </a:r>
          </a:p>
          <a:p>
            <a:pPr>
              <a:spcAft>
                <a:spcPts val="600"/>
              </a:spcAft>
            </a:pPr>
            <a:r>
              <a:rPr sz="1400">
                <a:solidFill>
                  <a:srgbClr val="1B2733"/>
                </a:solidFill>
              </a:rPr>
              <a:t>Business: H2 4 You sells hydrogen tablets and a branded Hydroxy Go bottle.</a:t>
            </a:r>
          </a:p>
          <a:p>
            <a:pPr>
              <a:spcAft>
                <a:spcPts val="600"/>
              </a:spcAft>
            </a:pPr>
            <a:r>
              <a:rPr sz="1400">
                <a:solidFill>
                  <a:srgbClr val="1B2733"/>
                </a:solidFill>
              </a:rPr>
              <a:t>Audience: US customers; English-language site; prices in USD.</a:t>
            </a:r>
          </a:p>
          <a:p>
            <a:pPr>
              <a:spcAft>
                <a:spcPts val="600"/>
              </a:spcAft>
            </a:pPr>
            <a:r>
              <a:rPr sz="1400">
                <a:solidFill>
                  <a:srgbClr val="1B2733"/>
                </a:solidFill>
              </a:rPr>
              <a:t>Pages: Home, Shop, tablet and bottle collections and products, Science, Learn with three articles, About us, Contact, Terms, Privacy, FAQ and Returns.</a:t>
            </a:r>
          </a:p>
          <a:p>
            <a:pPr>
              <a:spcAft>
                <a:spcPts val="600"/>
              </a:spcAft>
            </a:pPr>
            <a:r>
              <a:rPr sz="1400">
                <a:solidFill>
                  <a:srgbClr val="1B2733"/>
                </a:solidFill>
              </a:rPr>
              <a:t>Tone: Warm, energetic, curious and confident. Short, lively sentences. Enthusiasm about the experience and research, not health promises.</a:t>
            </a:r>
          </a:p>
          <a:p>
            <a:pPr>
              <a:spcAft>
                <a:spcPts val="600"/>
              </a:spcAft>
            </a:pPr>
            <a:r>
              <a:rPr b="1" sz="1400">
                <a:solidFill>
                  <a:srgbClr val="174C39"/>
                </a:solidFill>
              </a:rPr>
              <a:t>Expected result:</a:t>
            </a:r>
            <a:r>
              <a:rPr sz="1400">
                <a:solidFill>
                  <a:srgbClr val="1B2733"/>
                </a:solidFill>
              </a:rPr>
              <a:t> the answers appear in the saved brief and the next question advances. Guided mode records the page plan; it does not generate all those pages.</a:t>
            </a:r>
          </a:p>
        </p:txBody>
      </p:sp>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Prompt: H24YOU's design language</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5394960"/>
          </a:xfrm>
          <a:prstGeom prst="rect">
            <a:avLst/>
          </a:prstGeom>
          <a:noFill/>
        </p:spPr>
        <p:txBody>
          <a:bodyPr wrap="square">
            <a:spAutoFit/>
          </a:bodyPr>
          <a:lstStyle/>
          <a:p>
            <a:pPr>
              <a:spcAft>
                <a:spcPts val="600"/>
              </a:spcAft>
            </a:pPr>
            <a:r>
              <a:rPr b="1" sz="1400">
                <a:solidFill>
                  <a:srgbClr val="174C39"/>
                </a:solidFill>
              </a:rPr>
              <a:t>AI prompt — adapted from brief §3.</a:t>
            </a:r>
            <a:r>
              <a:rPr sz="1400">
                <a:solidFill>
                  <a:srgbClr val="1B2733"/>
                </a:solidFill>
              </a:rPr>
              <a:t> Select the home page. Split further if the assistant asks which section to change.</a:t>
            </a:r>
          </a:p>
          <a:p>
            <a:pPr>
              <a:spcAft>
                <a:spcPts val="600"/>
              </a:spcAft>
            </a:pPr>
            <a:r>
              <a:rPr sz="1400">
                <a:solidFill>
                  <a:srgbClr val="1B2733"/>
                </a:solidFill>
              </a:rPr>
              <a:t>Keep H24YOU clean, modern, fresh and premium but approachable. Use warm off-white #FAFAF7, white and near-black #0E1116. Use logo blue sparingly, with pale aqua #E8F4FB and sand #EFE8DE accents. Keep the site light and airy. Prefer editorial typography, generous whitespace and asymmetric composition. Avoid purple/rainbow gradients, glowing orbs, endless identical rounded cards and filler slogans. Update supported design settings only. Preserve the logos and FastShop administration branding. Keep the changes in draft.</a:t>
            </a:r>
          </a:p>
          <a:p>
            <a:pPr>
              <a:spcAft>
                <a:spcPts val="600"/>
              </a:spcAft>
            </a:pPr>
            <a:r>
              <a:rPr b="1" sz="1400">
                <a:solidFill>
                  <a:srgbClr val="174C39"/>
                </a:solidFill>
              </a:rPr>
              <a:t>Review:</a:t>
            </a:r>
            <a:r>
              <a:rPr sz="1400">
                <a:solidFill>
                  <a:srgbClr val="1B2733"/>
                </a:solidFill>
              </a:rPr>
              <a:t> inspect desktop and mobile. Bounded theme controls cannot express every design detail. Lovera requires the supplied licensed font; the H24YOU fixture uses a heading fallback and local Quicksand. Chat does not install arbitrary fonts.</a:t>
            </a:r>
          </a:p>
        </p:txBody>
      </p:sp>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Prompt: home hero and content rhythm</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5394960"/>
          </a:xfrm>
          <a:prstGeom prst="rect">
            <a:avLst/>
          </a:prstGeom>
          <a:noFill/>
        </p:spPr>
        <p:txBody>
          <a:bodyPr wrap="square">
            <a:spAutoFit/>
          </a:bodyPr>
          <a:lstStyle/>
          <a:p>
            <a:pPr>
              <a:spcAft>
                <a:spcPts val="600"/>
              </a:spcAft>
            </a:pPr>
            <a:r>
              <a:rPr b="1" sz="1400">
                <a:solidFill>
                  <a:srgbClr val="174C39"/>
                </a:solidFill>
              </a:rPr>
              <a:t>AI prompt — adapted from brief §§3 and 5.1.</a:t>
            </a:r>
            <a:r>
              <a:rPr sz="1400">
                <a:solidFill>
                  <a:srgbClr val="1B2733"/>
                </a:solidFill>
              </a:rPr>
              <a:t> Target the home hero first.</a:t>
            </a:r>
          </a:p>
          <a:p>
            <a:pPr>
              <a:spcAft>
                <a:spcPts val="600"/>
              </a:spcAft>
            </a:pPr>
            <a:r>
              <a:rPr sz="1400">
                <a:solidFill>
                  <a:srgbClr val="1B2733"/>
                </a:solidFill>
              </a:rPr>
              <a:t>Rewrite this H24YOU hero with a short, original headline and a Shop call to action. Make it warm, energetic and curious, focused on the first glass and everyday ritual. Do not promise health outcomes or reuse another brand's slogan. Keep the water imagery visibly identified as placeholder content. Change only this section's copy; do not publish.</a:t>
            </a:r>
          </a:p>
          <a:p>
            <a:pPr>
              <a:spcAft>
                <a:spcPts val="600"/>
              </a:spcAft>
            </a:pPr>
            <a:r>
              <a:rPr sz="1400">
                <a:solidFill>
                  <a:srgbClr val="1B2733"/>
                </a:solidFill>
              </a:rPr>
              <a:t>Then select the next section and ask for its specific edit. Keep research figures in their shared settings rather than inventing new counters in body text.</a:t>
            </a:r>
          </a:p>
          <a:p>
            <a:pPr>
              <a:spcAft>
                <a:spcPts val="600"/>
              </a:spcAft>
            </a:pPr>
            <a:r>
              <a:rPr b="1" sz="1400">
                <a:solidFill>
                  <a:srgbClr val="174C39"/>
                </a:solidFill>
              </a:rPr>
              <a:t>No-key exercise:</a:t>
            </a:r>
            <a:r>
              <a:rPr sz="1400">
                <a:solidFill>
                  <a:srgbClr val="1B2733"/>
                </a:solidFill>
              </a:rPr>
              <a:t> </a:t>
            </a:r>
            <a:r>
              <a:rPr sz="1400">
                <a:solidFill>
                  <a:srgbClr val="174C39"/>
                </a:solidFill>
                <a:latin typeface="Consolas"/>
              </a:rPr>
              <a:t>Headline: A little wonder. In every glass.</a:t>
            </a:r>
            <a:r>
              <a:rPr sz="1400">
                <a:solidFill>
                  <a:srgbClr val="1B2733"/>
                </a:solidFill>
              </a:rPr>
              <a:t> updates the selected heading. It does not create a video or rebuild the entire home page.</a:t>
            </a:r>
          </a:p>
        </p:txBody>
      </p:sp>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Prompt: tablets and bottle storytelling</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5394960"/>
          </a:xfrm>
          <a:prstGeom prst="rect">
            <a:avLst/>
          </a:prstGeom>
          <a:noFill/>
        </p:spPr>
        <p:txBody>
          <a:bodyPr wrap="square">
            <a:spAutoFit/>
          </a:bodyPr>
          <a:lstStyle/>
          <a:p>
            <a:pPr>
              <a:spcAft>
                <a:spcPts val="600"/>
              </a:spcAft>
            </a:pPr>
            <a:r>
              <a:rPr b="1" sz="1400">
                <a:solidFill>
                  <a:srgbClr val="174C39"/>
                </a:solidFill>
              </a:rPr>
              <a:t>AI prompt — adapted from brief §§5.3–5.4.</a:t>
            </a:r>
            <a:r>
              <a:rPr sz="1400">
                <a:solidFill>
                  <a:srgbClr val="1B2733"/>
                </a:solidFill>
              </a:rPr>
              <a:t> Select the tablets product page and the relevant text section; use catalog forms for variants and prices.</a:t>
            </a:r>
          </a:p>
          <a:p>
            <a:pPr>
              <a:spcAft>
                <a:spcPts val="600"/>
              </a:spcAft>
            </a:pPr>
            <a:r>
              <a:rPr sz="1400">
                <a:solidFill>
                  <a:srgbClr val="1B2733"/>
                </a:solidFill>
              </a:rPr>
              <a:t>Draft inviting H24YOU tablet copy around convenience, flavour and the daily water ritual. Flavours are Unflavoured, Raspberry and Pineapple. Keep $29.95 per box and pack size marked for confirmation. For ingredients and product details use: “Supplement Facts and ingredients to be added”. Do not invent doses, ingredients, specifications, testimonials or health claims. Save a draft.</a:t>
            </a:r>
          </a:p>
          <a:p>
            <a:pPr>
              <a:spcAft>
                <a:spcPts val="600"/>
              </a:spcAft>
            </a:pPr>
            <a:r>
              <a:rPr b="1" sz="1400">
                <a:solidFill>
                  <a:srgbClr val="174C39"/>
                </a:solidFill>
              </a:rPr>
              <a:t>Bottle follow-up:</a:t>
            </a:r>
            <a:r>
              <a:rPr sz="1400">
                <a:solidFill>
                  <a:srgbClr val="1B2733"/>
                </a:solidFill>
              </a:rPr>
              <a:t> “Adapt only the approved Hydroxy Go text I provide. If specifications or the USD price are missing, leave visible placeholders.”</a:t>
            </a:r>
          </a:p>
          <a:p>
            <a:pPr>
              <a:spcAft>
                <a:spcPts val="600"/>
              </a:spcAft>
            </a:pPr>
            <a:r>
              <a:rPr sz="1400">
                <a:solidFill>
                  <a:srgbClr val="1B2733"/>
                </a:solidFill>
              </a:rPr>
              <a:t>The builder does not fetch or verify the Hydroxy website for you. Supply reviewed source text; do not treat an assistant's recollection as a product specification.</a:t>
            </a:r>
          </a:p>
        </p:txBody>
      </p:sp>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Prompt: Science, counters and claims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5394960"/>
          </a:xfrm>
          <a:prstGeom prst="rect">
            <a:avLst/>
          </a:prstGeom>
          <a:noFill/>
        </p:spPr>
        <p:txBody>
          <a:bodyPr wrap="square">
            <a:spAutoFit/>
          </a:bodyPr>
          <a:lstStyle/>
          <a:p>
            <a:pPr>
              <a:spcAft>
                <a:spcPts val="600"/>
              </a:spcAft>
            </a:pPr>
            <a:r>
              <a:rPr b="1" sz="1400">
                <a:solidFill>
                  <a:srgbClr val="174C39"/>
                </a:solidFill>
              </a:rPr>
              <a:t>AI prompt — adapted from brief §§5.5, 7 and 8.</a:t>
            </a:r>
            <a:r>
              <a:rPr sz="1400">
                <a:solidFill>
                  <a:srgbClr val="1B2733"/>
                </a:solidFill>
              </a:rPr>
              <a:t> Select a Science introduction section. Use classical settings for the counters and claim-approval switches.</a:t>
            </a:r>
          </a:p>
          <a:p>
            <a:pPr>
              <a:spcAft>
                <a:spcPts val="600"/>
              </a:spcAft>
            </a:pPr>
            <a:r>
              <a:rPr sz="1400">
                <a:solidFill>
                  <a:srgbClr val="1B2733"/>
                </a:solidFill>
              </a:rPr>
              <a:t>Write a short, factual Science introduction that invites readers to explore original research. Use “Researchers have studied…” and “More research is needed.” Do not imply that our products diagnose, treat, cure or prevent a disease. Do not invent studies, endorsements or benefit statements. Keep product purchase buttons out of research lists. Save only a draft.</a:t>
            </a:r>
          </a:p>
          <a:p>
            <a:pPr>
              <a:spcAft>
                <a:spcPts val="600"/>
              </a:spcAft>
            </a:pPr>
            <a:r>
              <a:rPr b="1" sz="1400">
                <a:solidFill>
                  <a:srgbClr val="174C39"/>
                </a:solidFill>
              </a:rPr>
              <a:t>Counter review task:</a:t>
            </a:r>
            <a:r>
              <a:rPr sz="1400">
                <a:solidFill>
                  <a:srgbClr val="1B2733"/>
                </a:solidFill>
              </a:rPr>
              <a:t> confirm the brief's 2,000+ / 120+ / 68 figures with their source and a merchant-confirmed date. Do not add disease-model or benefit counters.</a:t>
            </a:r>
          </a:p>
          <a:p>
            <a:pPr>
              <a:spcAft>
                <a:spcPts val="600"/>
              </a:spcAft>
            </a:pPr>
            <a:r>
              <a:rPr sz="1400">
                <a:solidFill>
                  <a:srgbClr val="1B2733"/>
                </a:solidFill>
              </a:rPr>
              <a:t>The brief's benefit statements are drafts pending adviser review. Keep them disabled until approved; the footer disclaimer alone does not approve a claim.</a:t>
            </a:r>
          </a:p>
        </p:txBody>
      </p:sp>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Prompt: Learn article 1</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5394960"/>
          </a:xfrm>
          <a:prstGeom prst="rect">
            <a:avLst/>
          </a:prstGeom>
          <a:noFill/>
        </p:spPr>
        <p:txBody>
          <a:bodyPr wrap="square">
            <a:spAutoFit/>
          </a:bodyPr>
          <a:lstStyle/>
          <a:p>
            <a:pPr>
              <a:spcAft>
                <a:spcPts val="600"/>
              </a:spcAft>
            </a:pPr>
            <a:r>
              <a:rPr b="1" sz="1400">
                <a:solidFill>
                  <a:srgbClr val="174C39"/>
                </a:solidFill>
              </a:rPr>
              <a:t>AI prompt — adapted from brief §5.6.</a:t>
            </a:r>
            <a:r>
              <a:rPr sz="1400">
                <a:solidFill>
                  <a:srgbClr val="1B2733"/>
                </a:solidFill>
              </a:rPr>
              <a:t> Open </a:t>
            </a:r>
            <a:r>
              <a:rPr sz="1400">
                <a:solidFill>
                  <a:srgbClr val="174C39"/>
                </a:solidFill>
                <a:latin typeface="Consolas"/>
              </a:rPr>
              <a:t>/blogs/learn/what-is-molecular-hydrogen</a:t>
            </a:r>
            <a:r>
              <a:rPr sz="1400">
                <a:solidFill>
                  <a:srgbClr val="1B2733"/>
                </a:solidFill>
              </a:rPr>
              <a:t> and target its main text section.</a:t>
            </a:r>
          </a:p>
          <a:p>
            <a:pPr>
              <a:spcAft>
                <a:spcPts val="600"/>
              </a:spcAft>
            </a:pPr>
            <a:r>
              <a:rPr sz="1400">
                <a:solidFill>
                  <a:srgbClr val="1B2733"/>
                </a:solidFill>
              </a:rPr>
              <a:t>Draft “What is molecular hydrogen? A plain-language introduction” for H2 4 You. Aim for 600–900 words, calm and educational. Author: H2 4 You team. End with a “Studies referenced” box using only the two references supplied below. Do not invent citations or make product health promises. If source text is unavailable, ask me for it rather than inventing findings. Save for review.</a:t>
            </a:r>
          </a:p>
          <a:p>
            <a:pPr>
              <a:spcAft>
                <a:spcPts val="600"/>
              </a:spcAft>
            </a:pPr>
            <a:r>
              <a:rPr b="1" sz="1400">
                <a:solidFill>
                  <a:srgbClr val="174C39"/>
                </a:solidFill>
              </a:rPr>
              <a:t>Brief-supplied references:</a:t>
            </a:r>
            <a:r>
              <a:rPr sz="1400">
                <a:solidFill>
                  <a:srgbClr val="1B2733"/>
                </a:solidFill>
              </a:rPr>
              <a:t> </a:t>
            </a:r>
            <a:r>
              <a:rPr sz="1400">
                <a:solidFill>
                  <a:srgbClr val="174C39"/>
                </a:solidFill>
                <a:hlinkClick r:id="rId2"/>
              </a:rPr>
              <a:t>Ichihara et al. 2015</a:t>
            </a:r>
            <a:r>
              <a:rPr sz="1400">
                <a:solidFill>
                  <a:srgbClr val="1B2733"/>
                </a:solidFill>
              </a:rPr>
              <a:t> and </a:t>
            </a:r>
            <a:r>
              <a:rPr sz="1400">
                <a:solidFill>
                  <a:srgbClr val="174C39"/>
                </a:solidFill>
                <a:hlinkClick r:id="rId3"/>
              </a:rPr>
              <a:t>Dixon et al. 2013</a:t>
            </a:r>
            <a:r>
              <a:rPr sz="1400">
                <a:solidFill>
                  <a:srgbClr val="1B2733"/>
                </a:solidFill>
              </a:rPr>
              <a:t>.</a:t>
            </a:r>
          </a:p>
          <a:p>
            <a:pPr>
              <a:spcAft>
                <a:spcPts val="600"/>
              </a:spcAft>
            </a:pPr>
            <a:r>
              <a:rPr sz="1400">
                <a:solidFill>
                  <a:srgbClr val="1B2733"/>
                </a:solidFill>
              </a:rPr>
              <a:t>Provide the source excerpts and links in a follow-up message. The builder is not a research browser. Review word count, references and rendered structure manually; split the work into sections if a request exceeds supported output size.</a:t>
            </a:r>
          </a:p>
        </p:txBody>
      </p:sp>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Prompt: Learn article 2</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5394960"/>
          </a:xfrm>
          <a:prstGeom prst="rect">
            <a:avLst/>
          </a:prstGeom>
          <a:noFill/>
        </p:spPr>
        <p:txBody>
          <a:bodyPr wrap="square">
            <a:spAutoFit/>
          </a:bodyPr>
          <a:lstStyle/>
          <a:p>
            <a:pPr>
              <a:spcAft>
                <a:spcPts val="600"/>
              </a:spcAft>
            </a:pPr>
            <a:r>
              <a:rPr b="1" sz="1400">
                <a:solidFill>
                  <a:srgbClr val="174C39"/>
                </a:solidFill>
              </a:rPr>
              <a:t>AI prompt — adapted from brief §5.6.</a:t>
            </a:r>
            <a:r>
              <a:rPr sz="1400">
                <a:solidFill>
                  <a:srgbClr val="1B2733"/>
                </a:solidFill>
              </a:rPr>
              <a:t> Open </a:t>
            </a:r>
            <a:r>
              <a:rPr sz="1400">
                <a:solidFill>
                  <a:srgbClr val="174C39"/>
                </a:solidFill>
                <a:latin typeface="Consolas"/>
              </a:rPr>
              <a:t>/blogs/learn/timing-and-consistency</a:t>
            </a:r>
            <a:r>
              <a:rPr sz="1400">
                <a:solidFill>
                  <a:srgbClr val="1B2733"/>
                </a:solidFill>
              </a:rPr>
              <a:t> and target its main text section.</a:t>
            </a:r>
          </a:p>
          <a:p>
            <a:pPr>
              <a:spcAft>
                <a:spcPts val="600"/>
              </a:spcAft>
            </a:pPr>
            <a:r>
              <a:rPr sz="1400">
                <a:solidFill>
                  <a:srgbClr val="1B2733"/>
                </a:solidFill>
              </a:rPr>
              <a:t>Draft “Timing and consistency: how hydrogen water is used in studies” for H2 4 You. Aim for 600–900 words, calm and educational. Describe differences in study methods without converting study protocols into a product dose or medical recommendation. Author: H2 4 You team. End with a “Studies referenced” box using the supplied references. Ask for source text if needed. Save a draft.</a:t>
            </a:r>
          </a:p>
          <a:p>
            <a:pPr>
              <a:spcAft>
                <a:spcPts val="600"/>
              </a:spcAft>
            </a:pPr>
            <a:r>
              <a:rPr b="1" sz="1400">
                <a:solidFill>
                  <a:srgbClr val="174C39"/>
                </a:solidFill>
              </a:rPr>
              <a:t>Brief-supplied references:</a:t>
            </a:r>
            <a:r>
              <a:rPr sz="1400">
                <a:solidFill>
                  <a:srgbClr val="1B2733"/>
                </a:solidFill>
              </a:rPr>
              <a:t> </a:t>
            </a:r>
            <a:r>
              <a:rPr sz="1400">
                <a:solidFill>
                  <a:srgbClr val="174C39"/>
                </a:solidFill>
                <a:hlinkClick r:id="rId2"/>
              </a:rPr>
              <a:t>LeBaron et al. 2019</a:t>
            </a:r>
            <a:r>
              <a:rPr sz="1400">
                <a:solidFill>
                  <a:srgbClr val="1B2733"/>
                </a:solidFill>
              </a:rPr>
              <a:t> and </a:t>
            </a:r>
            <a:r>
              <a:rPr sz="1400">
                <a:solidFill>
                  <a:srgbClr val="174C39"/>
                </a:solidFill>
                <a:hlinkClick r:id="rId3"/>
              </a:rPr>
              <a:t>Mikami et al. 2019</a:t>
            </a:r>
            <a:r>
              <a:rPr sz="1400">
                <a:solidFill>
                  <a:srgbClr val="1B2733"/>
                </a:solidFill>
              </a:rPr>
              <a:t>.</a:t>
            </a:r>
          </a:p>
          <a:p>
            <a:pPr>
              <a:spcAft>
                <a:spcPts val="600"/>
              </a:spcAft>
            </a:pPr>
            <a:r>
              <a:rPr b="1" sz="1400">
                <a:solidFill>
                  <a:srgbClr val="174C39"/>
                </a:solidFill>
              </a:rPr>
              <a:t>Review:</a:t>
            </a:r>
            <a:r>
              <a:rPr sz="1400">
                <a:solidFill>
                  <a:srgbClr val="1B2733"/>
                </a:solidFill>
              </a:rPr>
              <a:t> check every factual sentence against supplied source material. This guide reproduces the brief's reference list; it does not independently verify the studies or endorse any health conclusion.</a:t>
            </a:r>
          </a:p>
        </p:txBody>
      </p:sp>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Prompt: Learn article 3</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5394960"/>
          </a:xfrm>
          <a:prstGeom prst="rect">
            <a:avLst/>
          </a:prstGeom>
          <a:noFill/>
        </p:spPr>
        <p:txBody>
          <a:bodyPr wrap="square">
            <a:spAutoFit/>
          </a:bodyPr>
          <a:lstStyle/>
          <a:p>
            <a:pPr>
              <a:spcAft>
                <a:spcPts val="600"/>
              </a:spcAft>
            </a:pPr>
            <a:r>
              <a:rPr b="1" sz="1400">
                <a:solidFill>
                  <a:srgbClr val="174C39"/>
                </a:solidFill>
              </a:rPr>
              <a:t>AI prompt — adapted from brief §5.6.</a:t>
            </a:r>
            <a:r>
              <a:rPr sz="1400">
                <a:solidFill>
                  <a:srgbClr val="1B2733"/>
                </a:solidFill>
              </a:rPr>
              <a:t> Open </a:t>
            </a:r>
            <a:r>
              <a:rPr sz="1400">
                <a:solidFill>
                  <a:srgbClr val="174C39"/>
                </a:solidFill>
                <a:latin typeface="Consolas"/>
              </a:rPr>
              <a:t>/blogs/learn/how-to-read-hydrogen-research</a:t>
            </a:r>
            <a:r>
              <a:rPr sz="1400">
                <a:solidFill>
                  <a:srgbClr val="1B2733"/>
                </a:solidFill>
              </a:rPr>
              <a:t> and select its text section.</a:t>
            </a:r>
          </a:p>
          <a:p>
            <a:pPr>
              <a:spcAft>
                <a:spcPts val="600"/>
              </a:spcAft>
            </a:pPr>
            <a:r>
              <a:rPr sz="1400">
                <a:solidFill>
                  <a:srgbClr val="1B2733"/>
                </a:solidFill>
              </a:rPr>
              <a:t>Draft “How to read hydrogen research: what is studied and what is still unknown” for H2 4 You. Aim for 600–900 words. Explain study limitations and why a research result is not a promise about our products. Author: H2 4 You team. End with a “Studies referenced” box using only supplied sources. Ask for source text rather than inventing findings. Save for human review.</a:t>
            </a:r>
          </a:p>
          <a:p>
            <a:pPr>
              <a:spcAft>
                <a:spcPts val="600"/>
              </a:spcAft>
            </a:pPr>
            <a:r>
              <a:rPr b="1" sz="1400">
                <a:solidFill>
                  <a:srgbClr val="174C39"/>
                </a:solidFill>
              </a:rPr>
              <a:t>Brief-supplied references:</a:t>
            </a:r>
            <a:r>
              <a:rPr sz="1400">
                <a:solidFill>
                  <a:srgbClr val="1B2733"/>
                </a:solidFill>
              </a:rPr>
              <a:t> </a:t>
            </a:r>
            <a:r>
              <a:rPr sz="1400">
                <a:solidFill>
                  <a:srgbClr val="174C39"/>
                </a:solidFill>
                <a:hlinkClick r:id="rId2"/>
              </a:rPr>
              <a:t>Li et al. 2024</a:t>
            </a:r>
            <a:r>
              <a:rPr sz="1400">
                <a:solidFill>
                  <a:srgbClr val="1B2733"/>
                </a:solidFill>
              </a:rPr>
              <a:t>, </a:t>
            </a:r>
            <a:r>
              <a:rPr sz="1400">
                <a:solidFill>
                  <a:srgbClr val="174C39"/>
                </a:solidFill>
                <a:hlinkClick r:id="rId3"/>
              </a:rPr>
              <a:t>Zhou et al. 2023</a:t>
            </a:r>
            <a:r>
              <a:rPr sz="1400">
                <a:solidFill>
                  <a:srgbClr val="1B2733"/>
                </a:solidFill>
              </a:rPr>
              <a:t> and </a:t>
            </a:r>
            <a:r>
              <a:rPr sz="1400">
                <a:solidFill>
                  <a:srgbClr val="174C39"/>
                </a:solidFill>
                <a:hlinkClick r:id="rId4"/>
              </a:rPr>
              <a:t>Todorovic et al. 2023</a:t>
            </a:r>
            <a:r>
              <a:rPr sz="1400">
                <a:solidFill>
                  <a:srgbClr val="1B2733"/>
                </a:solidFill>
              </a:rPr>
              <a:t>.</a:t>
            </a:r>
          </a:p>
          <a:p>
            <a:pPr>
              <a:spcAft>
                <a:spcPts val="600"/>
              </a:spcAft>
            </a:pPr>
            <a:r>
              <a:rPr sz="1400">
                <a:solidFill>
                  <a:srgbClr val="1B2733"/>
                </a:solidFill>
              </a:rPr>
              <a:t>Keep the article educational. Check source metadata, links, claims and final word count before publishing. The merchant must approve all three launch articles.</a:t>
            </a:r>
          </a:p>
        </p:txBody>
      </p:sp>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Prompt: About, Contact and policies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5394960"/>
          </a:xfrm>
          <a:prstGeom prst="rect">
            <a:avLst/>
          </a:prstGeom>
          <a:noFill/>
        </p:spPr>
        <p:txBody>
          <a:bodyPr wrap="square">
            <a:spAutoFit/>
          </a:bodyPr>
          <a:lstStyle/>
          <a:p>
            <a:pPr>
              <a:spcAft>
                <a:spcPts val="600"/>
              </a:spcAft>
            </a:pPr>
            <a:r>
              <a:rPr b="1" sz="1400">
                <a:solidFill>
                  <a:srgbClr val="174C39"/>
                </a:solidFill>
              </a:rPr>
              <a:t>AI prompt — adapted from brief §§1 and 5.7–5.9.</a:t>
            </a:r>
            <a:r>
              <a:rPr sz="1400">
                <a:solidFill>
                  <a:srgbClr val="1B2733"/>
                </a:solidFill>
              </a:rPr>
              <a:t> Select the appropriate page; send separate requests rather than rewriting all company pages at once.</a:t>
            </a:r>
          </a:p>
          <a:p>
            <a:pPr>
              <a:spcAft>
                <a:spcPts val="600"/>
              </a:spcAft>
            </a:pPr>
            <a:r>
              <a:rPr sz="1400">
                <a:solidFill>
                  <a:srgbClr val="1B2733"/>
                </a:solidFill>
              </a:rPr>
              <a:t>Adapt the founder story I supply for H2 4 You in warm, natural English. Include Andres Randma as the creator of Lumiorav magnesium water, as stated in our brief, but do not invent a biography. Use photo placeholders. Express that we are health enthusiasts who care about supporting our own health and sharing it with others. Ask for missing founder details. Save a draft only.</a:t>
            </a:r>
          </a:p>
          <a:p>
            <a:pPr>
              <a:spcAft>
                <a:spcPts val="600"/>
              </a:spcAft>
            </a:pPr>
            <a:r>
              <a:rPr b="1" sz="1400">
                <a:solidFill>
                  <a:srgbClr val="174C39"/>
                </a:solidFill>
              </a:rPr>
              <a:t>Contact task:</a:t>
            </a:r>
            <a:r>
              <a:rPr sz="1400">
                <a:solidFill>
                  <a:srgbClr val="1B2733"/>
                </a:solidFill>
              </a:rPr>
              <a:t> use H2 4 You Ltd and info@h24you.com. Keep the legal address centralized and clearly marked for confirmation; do not reuse it as the warehouse.</a:t>
            </a:r>
          </a:p>
          <a:p>
            <a:pPr>
              <a:spcAft>
                <a:spcPts val="600"/>
              </a:spcAft>
            </a:pPr>
            <a:r>
              <a:rPr b="1" sz="1400">
                <a:solidFill>
                  <a:srgbClr val="174C39"/>
                </a:solidFill>
              </a:rPr>
              <a:t>Policy task:</a:t>
            </a:r>
            <a:r>
              <a:rPr sz="1400">
                <a:solidFill>
                  <a:srgbClr val="1B2733"/>
                </a:solidFill>
              </a:rPr>
              <a:t> organize merchant-supplied Terms, Privacy, FAQ and Returns text. Missing policy wording stays a placeholder; generated text is not legal approval.</a:t>
            </a:r>
          </a:p>
        </p:txBody>
      </p:sp>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Preview, switch modes and undo</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Choose </a:t>
            </a:r>
            <a:r>
              <a:rPr b="1" sz="1400">
                <a:solidFill>
                  <a:srgbClr val="174C39"/>
                </a:solidFill>
              </a:rPr>
              <a:t>Design controls</a:t>
            </a:r>
            <a:r>
              <a:rPr sz="1400">
                <a:solidFill>
                  <a:srgbClr val="1B2733"/>
                </a:solidFill>
              </a:rPr>
              <a:t> for exact supported colors, spacing and typography. Choose </a:t>
            </a:r>
            <a:r>
              <a:rPr b="1" sz="1400">
                <a:solidFill>
                  <a:srgbClr val="174C39"/>
                </a:solidFill>
              </a:rPr>
              <a:t>Classical editor</a:t>
            </a:r>
            <a:r>
              <a:rPr sz="1400">
                <a:solidFill>
                  <a:srgbClr val="1B2733"/>
                </a:solidFill>
              </a:rPr>
              <a:t> for pages, navigation and publication. Return to chat without copying content: all three views use the same saved draft.</a:t>
            </a:r>
          </a:p>
          <a:p>
            <a:pPr>
              <a:spcAft>
                <a:spcPts val="600"/>
              </a:spcAft>
            </a:pPr>
            <a:r>
              <a:rPr sz="1400">
                <a:solidFill>
                  <a:srgbClr val="1B2733"/>
                </a:solidFill>
              </a:rPr>
              <a:t>Expand </a:t>
            </a:r>
            <a:r>
              <a:rPr b="1" sz="1400">
                <a:solidFill>
                  <a:srgbClr val="174C39"/>
                </a:solidFill>
              </a:rPr>
              <a:t>Draft revision history</a:t>
            </a:r>
            <a:r>
              <a:rPr sz="1400">
                <a:solidFill>
                  <a:srgbClr val="1B2733"/>
                </a:solidFill>
              </a:rPr>
              <a:t> to inspect the latest 50 changes. </a:t>
            </a:r>
            <a:r>
              <a:rPr b="1" sz="1400">
                <a:solidFill>
                  <a:srgbClr val="174C39"/>
                </a:solidFill>
              </a:rPr>
              <a:t>Undo latest change</a:t>
            </a:r>
            <a:r>
              <a:rPr sz="1400">
                <a:solidFill>
                  <a:srgbClr val="1B2733"/>
                </a:solidFill>
              </a:rPr>
              <a:t> works only while that unchanged revision is current. It does not rewind payments, catalog operations or published pages.</a:t>
            </a:r>
          </a:p>
          <a:p>
            <a:pPr>
              <a:spcAft>
                <a:spcPts val="600"/>
              </a:spcAft>
            </a:pPr>
            <a:r>
              <a:rPr sz="1400">
                <a:solidFill>
                  <a:srgbClr val="1B2733"/>
                </a:solidFill>
              </a:rPr>
              <a:t>For a slow request, use </a:t>
            </a:r>
            <a:r>
              <a:rPr b="1" sz="1400">
                <a:solidFill>
                  <a:srgbClr val="174C39"/>
                </a:solidFill>
              </a:rPr>
              <a:t>Cancel pending edit</a:t>
            </a:r>
            <a:r>
              <a:rPr sz="1400">
                <a:solidFill>
                  <a:srgbClr val="1B2733"/>
                </a:solidFill>
              </a:rPr>
              <a:t>. After a timeout, reload and inspect the saved result before trying again. If another editor changed the draft, the stale request is rejected rather than overwriting their work.</a:t>
            </a:r>
          </a:p>
        </p:txBody>
      </p:sp>
      <p:pic>
        <p:nvPicPr>
          <p:cNvPr id="5" name="Picture 4" descr="design.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94360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38912"/>
            <a:ext cx="73152" cy="5943600"/>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143000"/>
            <a:ext cx="2743200" cy="457200"/>
          </a:xfrm>
          <a:prstGeom prst="rect">
            <a:avLst/>
          </a:prstGeom>
          <a:noFill/>
        </p:spPr>
        <p:txBody>
          <a:bodyPr wrap="none">
            <a:spAutoFit/>
          </a:bodyPr>
          <a:lstStyle/>
          <a:p>
            <a:r>
              <a:rPr sz="1200" b="1">
                <a:solidFill>
                  <a:srgbClr val="D6E6F5"/>
                </a:solidFill>
              </a:rPr>
              <a:t>SECTION 04</a:t>
            </a:r>
          </a:p>
        </p:txBody>
      </p:sp>
      <p:sp>
        <p:nvSpPr>
          <p:cNvPr id="5" name="TextBox 4"/>
          <p:cNvSpPr txBox="1"/>
          <p:nvPr/>
        </p:nvSpPr>
        <p:spPr>
          <a:xfrm>
            <a:off x="1143000" y="1874519"/>
            <a:ext cx="10180015" cy="3200400"/>
          </a:xfrm>
          <a:prstGeom prst="rect">
            <a:avLst/>
          </a:prstGeom>
          <a:noFill/>
        </p:spPr>
        <p:txBody>
          <a:bodyPr wrap="square">
            <a:spAutoFit/>
          </a:bodyPr>
          <a:lstStyle/>
          <a:p>
            <a:r>
              <a:rPr sz="4200" b="1">
                <a:solidFill>
                  <a:srgbClr val="FFFFFF"/>
                </a:solidFill>
              </a:rPr>
              <a:t>Prepare commerce</a:t>
            </a:r>
          </a:p>
          <a:p>
            <a:pPr>
              <a:spcBef>
                <a:spcPts val="1600"/>
              </a:spcBef>
            </a:pPr>
            <a:r>
              <a:rPr sz="1800">
                <a:solidFill>
                  <a:srgbClr val="D6E6F5"/>
                </a:solidFill>
              </a:rPr>
              <a:t>Only after Phase 1 review: confirm merchant details, try the isolated simulator and prepare Stripe sandbox acceptance. Simulation is not a live store.</a:t>
            </a:r>
          </a:p>
        </p:txBody>
      </p:sp>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Replace and review merchant sample data</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Open </a:t>
            </a:r>
            <a:r>
              <a:rPr b="1" sz="1400">
                <a:solidFill>
                  <a:srgbClr val="174C39"/>
                </a:solidFill>
              </a:rPr>
              <a:t>Merchant details &amp; samples</a:t>
            </a:r>
            <a:r>
              <a:rPr sz="1400">
                <a:solidFill>
                  <a:srgbClr val="1B2733"/>
                </a:solidFill>
              </a:rPr>
              <a:t>. On a private draft with commerce disabled, </a:t>
            </a:r>
            <a:r>
              <a:rPr b="1" sz="1400">
                <a:solidFill>
                  <a:srgbClr val="174C39"/>
                </a:solidFill>
              </a:rPr>
              <a:t>Fill missing fields with sample data</a:t>
            </a:r>
            <a:r>
              <a:rPr sz="1400">
                <a:solidFill>
                  <a:srgbClr val="1B2733"/>
                </a:solidFill>
              </a:rPr>
              <a:t> provides clearly labelled examples. Existing values and previously reviewed fields are not blindly overwritten.</a:t>
            </a:r>
          </a:p>
          <a:p>
            <a:pPr>
              <a:spcAft>
                <a:spcPts val="600"/>
              </a:spcAft>
            </a:pPr>
            <a:r>
              <a:rPr sz="1400">
                <a:solidFill>
                  <a:srgbClr val="1B2733"/>
                </a:solidFill>
              </a:rPr>
              <a:t>Replace company identity, legal address, contact email and EU warehouse details. The shipping origin is distinct from the legal address. The final warehouse may be in Estonia or another supported EU country; confirm it with the merchant.</a:t>
            </a:r>
          </a:p>
          <a:p>
            <a:pPr>
              <a:spcAft>
                <a:spcPts val="600"/>
              </a:spcAft>
            </a:pPr>
            <a:r>
              <a:rPr sz="1400">
                <a:solidFill>
                  <a:srgbClr val="1B2733"/>
                </a:solidFill>
              </a:rPr>
              <a:t>Amounts are USD cents: </a:t>
            </a:r>
            <a:r>
              <a:rPr sz="1400">
                <a:solidFill>
                  <a:srgbClr val="174C39"/>
                </a:solidFill>
                <a:latin typeface="Consolas"/>
              </a:rPr>
              <a:t>1000</a:t>
            </a:r>
            <a:r>
              <a:rPr sz="1400">
                <a:solidFill>
                  <a:srgbClr val="1B2733"/>
                </a:solidFill>
              </a:rPr>
              <a:t> is $10; </a:t>
            </a:r>
            <a:r>
              <a:rPr sz="1400">
                <a:solidFill>
                  <a:srgbClr val="174C39"/>
                </a:solidFill>
                <a:latin typeface="Consolas"/>
              </a:rPr>
              <a:t>7500</a:t>
            </a:r>
            <a:r>
              <a:rPr sz="1400">
                <a:solidFill>
                  <a:srgbClr val="1B2733"/>
                </a:solidFill>
              </a:rPr>
              <a:t> is $75. The former is a training example, not a confirmed H24YOU fee. Explicitly review each field. Saving does not publish, approve tax registrations or activate payments.</a:t>
            </a:r>
          </a:p>
        </p:txBody>
      </p:sp>
      <p:pic>
        <p:nvPicPr>
          <p:cNvPr id="5" name="Picture 4" descr="merchant-details.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Prompt: propose shipping, then approve it</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b="1" sz="1400">
                <a:solidFill>
                  <a:srgbClr val="174C39"/>
                </a:solidFill>
              </a:rPr>
              <a:t>AI prompt — adapted from brief §6 and subsequent EU-origin direction:</a:t>
            </a:r>
          </a:p>
          <a:p>
            <a:pPr>
              <a:spcAft>
                <a:spcPts val="600"/>
              </a:spcAft>
            </a:pPr>
            <a:r>
              <a:rPr sz="1400">
                <a:solidFill>
                  <a:srgbClr val="1B2733"/>
                </a:solidFill>
              </a:rPr>
              <a:t>Propose US-only shipping from our confirmed EU warehouse. For this training example only, use a $10 flat fee and a $75 free-shipping threshold. Show the proposed values for merchant review. Do not enable payments or approve tax registrations. Do not change anything until I explicitly approve the proposal.</a:t>
            </a:r>
          </a:p>
          <a:p>
            <a:pPr>
              <a:spcAft>
                <a:spcPts val="600"/>
              </a:spcAft>
            </a:pPr>
            <a:r>
              <a:rPr b="1" sz="1400">
                <a:solidFill>
                  <a:srgbClr val="174C39"/>
                </a:solidFill>
              </a:rPr>
              <a:t>No-key exercise:</a:t>
            </a:r>
            <a:r>
              <a:rPr sz="1400">
                <a:solidFill>
                  <a:srgbClr val="1B2733"/>
                </a:solidFill>
              </a:rPr>
              <a:t> </a:t>
            </a:r>
            <a:r>
              <a:rPr sz="1400">
                <a:solidFill>
                  <a:srgbClr val="174C39"/>
                </a:solidFill>
                <a:latin typeface="Consolas"/>
              </a:rPr>
              <a:t>Shipping: 1000</a:t>
            </a:r>
            <a:r>
              <a:rPr sz="1400">
                <a:solidFill>
                  <a:srgbClr val="1B2733"/>
                </a:solidFill>
              </a:rPr>
              <a:t> proposes the $10 fee only.</a:t>
            </a:r>
          </a:p>
          <a:p>
            <a:pPr>
              <a:spcAft>
                <a:spcPts val="600"/>
              </a:spcAft>
            </a:pPr>
            <a:r>
              <a:rPr sz="1400">
                <a:solidFill>
                  <a:srgbClr val="1B2733"/>
                </a:solidFill>
              </a:rPr>
              <a:t>Inspect </a:t>
            </a:r>
            <a:r>
              <a:rPr b="1" sz="1400">
                <a:solidFill>
                  <a:srgbClr val="174C39"/>
                </a:solidFill>
              </a:rPr>
              <a:t>Review merchant changes</a:t>
            </a:r>
            <a:r>
              <a:rPr sz="1400">
                <a:solidFill>
                  <a:srgbClr val="1B2733"/>
                </a:solidFill>
              </a:rPr>
              <a:t>, tick </a:t>
            </a:r>
            <a:r>
              <a:rPr b="1" sz="1400">
                <a:solidFill>
                  <a:srgbClr val="174C39"/>
                </a:solidFill>
              </a:rPr>
              <a:t>I reviewed every proposed change</a:t>
            </a:r>
            <a:r>
              <a:rPr sz="1400">
                <a:solidFill>
                  <a:srgbClr val="1B2733"/>
                </a:solidFill>
              </a:rPr>
              <a:t> and approve—or reject. Stale proposals need a fresh request. Approved prices and shipping are operational changes, not reversible page edits. Merchant-detail proposals currently require commerce disabled.</a:t>
            </a:r>
          </a:p>
        </p:txBody>
      </p:sp>
      <p:pic>
        <p:nvPicPr>
          <p:cNvPr id="5" name="Picture 4" descr="merchant-review.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Try checkout without credentials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Open </a:t>
            </a:r>
            <a:r>
              <a:rPr b="1" sz="1400">
                <a:solidFill>
                  <a:srgbClr val="174C39"/>
                </a:solidFill>
              </a:rPr>
              <a:t>Try commerce demo → Start private demo</a:t>
            </a:r>
            <a:r>
              <a:rPr sz="1400">
                <a:solidFill>
                  <a:srgbClr val="1B2733"/>
                </a:solidFill>
              </a:rPr>
              <a:t>. Its catalog, stock, shopper and orders are separate from your real store. For this walkthrough, one sample item was manually renamed </a:t>
            </a:r>
            <a:r>
              <a:rPr b="1" sz="1400">
                <a:solidFill>
                  <a:srgbClr val="174C39"/>
                </a:solidFill>
              </a:rPr>
              <a:t>H24YOU training tablets — PLACEHOLDER</a:t>
            </a:r>
            <a:r>
              <a:rPr sz="1400">
                <a:solidFill>
                  <a:srgbClr val="1B2733"/>
                </a:solidFill>
              </a:rPr>
              <a:t>; other simulator defaults are not H24YOU's approved catalog.</a:t>
            </a:r>
          </a:p>
          <a:p>
            <a:pPr>
              <a:spcAft>
                <a:spcPts val="600"/>
              </a:spcAft>
            </a:pPr>
            <a:r>
              <a:rPr sz="1400">
                <a:solidFill>
                  <a:srgbClr val="1B2733"/>
                </a:solidFill>
              </a:rPr>
              <a:t>Set quantity and one-time/monthly purchase, then open </a:t>
            </a:r>
            <a:r>
              <a:rPr b="1" sz="1400">
                <a:solidFill>
                  <a:srgbClr val="174C39"/>
                </a:solidFill>
              </a:rPr>
              <a:t>Checkout</a:t>
            </a:r>
            <a:r>
              <a:rPr sz="1400">
                <a:solidFill>
                  <a:srgbClr val="1B2733"/>
                </a:solidFill>
              </a:rPr>
              <a:t>. Enter a sample US destination, confirm recurring consent where applicable and calculate the total. Try both simulated approval and decline.</a:t>
            </a:r>
          </a:p>
          <a:p>
            <a:pPr>
              <a:spcAft>
                <a:spcPts val="600"/>
              </a:spcAft>
            </a:pPr>
            <a:r>
              <a:rPr sz="1400">
                <a:solidFill>
                  <a:srgbClr val="1B2733"/>
                </a:solidFill>
              </a:rPr>
              <a:t>The displayed tax is an illustrative fixture, not a real state or ZIP rate. No card details, actual payment, real email or fulfillment request is used.</a:t>
            </a:r>
          </a:p>
        </p:txBody>
      </p:sp>
      <p:pic>
        <p:nvPicPr>
          <p:cNvPr id="5" name="Picture 4" descr="demo-checkout.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Configure US commerce through the explicit forms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In </a:t>
            </a:r>
            <a:r>
              <a:rPr b="1" sz="1400">
                <a:solidFill>
                  <a:srgbClr val="174C39"/>
                </a:solidFill>
              </a:rPr>
              <a:t>Commerce</a:t>
            </a:r>
            <a:r>
              <a:rPr sz="1400">
                <a:solidFill>
                  <a:srgbClr val="1B2733"/>
                </a:solidFill>
              </a:rPr>
              <a:t>, confirm EU origin, US destinations, shipping fee and threshold. Review product tax classifications and registrations with the responsible merchant. Use Stripe test credentials only for sandbox acceptance; live mode is not offered.</a:t>
            </a:r>
          </a:p>
          <a:p>
            <a:pPr>
              <a:spcAft>
                <a:spcPts val="600"/>
              </a:spcAft>
            </a:pPr>
            <a:r>
              <a:rPr sz="1400">
                <a:solidFill>
                  <a:srgbClr val="1B2733"/>
                </a:solidFill>
              </a:rPr>
              <a:t>Real sandbox tax is calculated through Stripe Tax using the full delivery address, not a hard-coded state percentage. A failed tax lookup must not become zero tax. The final total must be reviewed before payment.</a:t>
            </a:r>
          </a:p>
          <a:p>
            <a:pPr>
              <a:spcAft>
                <a:spcPts val="600"/>
              </a:spcAft>
            </a:pPr>
            <a:r>
              <a:rPr sz="1400">
                <a:solidFill>
                  <a:srgbClr val="1B2733"/>
                </a:solidFill>
              </a:rPr>
              <a:t>The first-order 10% offer and subscription 10% saving stack sequentially: </a:t>
            </a:r>
            <a:r>
              <a:rPr b="1" sz="1400">
                <a:solidFill>
                  <a:srgbClr val="174C39"/>
                </a:solidFill>
              </a:rPr>
              <a:t>19% combined before cent rounding</a:t>
            </a:r>
            <a:r>
              <a:rPr sz="1400">
                <a:solidFill>
                  <a:srgbClr val="1B2733"/>
                </a:solidFill>
              </a:rPr>
              <a:t>, not 20%. Verify supported payment methods; do not show PayPal or wallet icons as accepted merely because the original brief listed them.</a:t>
            </a:r>
          </a:p>
        </p:txBody>
      </p:sp>
      <p:pic>
        <p:nvPicPr>
          <p:cNvPr id="5" name="Picture 4" descr="commerce.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Subscriptions: monthly tablets, explicit controls</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The H24YOU brief calls for monthly tablet delivery with 10% savings and future flavour changes. In real catalog settings, enable subscriptions for tablets only. The customer must explicitly consent before a recurring purchase.</a:t>
            </a:r>
          </a:p>
          <a:p>
            <a:pPr>
              <a:spcAft>
                <a:spcPts val="600"/>
              </a:spcAft>
            </a:pPr>
            <a:r>
              <a:rPr sz="1400">
                <a:solidFill>
                  <a:srgbClr val="1B2733"/>
                </a:solidFill>
              </a:rPr>
              <a:t>In the simulator's </a:t>
            </a:r>
            <a:r>
              <a:rPr b="1" sz="1400">
                <a:solidFill>
                  <a:srgbClr val="174C39"/>
                </a:solidFill>
              </a:rPr>
              <a:t>My account</a:t>
            </a:r>
            <a:r>
              <a:rPr sz="1400">
                <a:solidFill>
                  <a:srgbClr val="1B2733"/>
                </a:solidFill>
              </a:rPr>
              <a:t>, practice skipping a delivery, pausing/resuming, changing frequency or flavour, updating address/payment and cancelling. Simulate successful and failed renewals to inspect the resulting history.</a:t>
            </a:r>
          </a:p>
          <a:p>
            <a:pPr>
              <a:spcAft>
                <a:spcPts val="600"/>
              </a:spcAft>
            </a:pPr>
            <a:r>
              <a:rPr sz="1400">
                <a:solidFill>
                  <a:srgbClr val="1B2733"/>
                </a:solidFill>
              </a:rPr>
              <a:t>The sample payment update is a label, not a stored card. Real recurring billing, card updates, recovery, scheduled workers and notices require the separate Stripe sandbox acceptance steps. Chat cannot activate or charge a subscription.</a:t>
            </a:r>
          </a:p>
        </p:txBody>
      </p:sp>
      <p:pic>
        <p:nvPicPr>
          <p:cNvPr id="5" name="Picture 4" descr="demo-subscriptions.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My account and order tracking</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After simulated checkout, request a </a:t>
            </a:r>
            <a:r>
              <a:rPr b="1" sz="1400">
                <a:solidFill>
                  <a:srgbClr val="174C39"/>
                </a:solidFill>
              </a:rPr>
              <a:t>local demo sign-in</a:t>
            </a:r>
            <a:r>
              <a:rPr sz="1400">
                <a:solidFill>
                  <a:srgbClr val="1B2733"/>
                </a:solidFill>
              </a:rPr>
              <a:t> and confirm it in the local inbox. This signs in the synthetic shopper inside the merchant simulator; it is not a public customer account or proof of real email delivery.</a:t>
            </a:r>
          </a:p>
          <a:p>
            <a:pPr>
              <a:spcAft>
                <a:spcPts val="600"/>
              </a:spcAft>
            </a:pPr>
            <a:r>
              <a:rPr sz="1400">
                <a:solidFill>
                  <a:srgbClr val="1B2733"/>
                </a:solidFill>
              </a:rPr>
              <a:t>Open </a:t>
            </a:r>
            <a:r>
              <a:rPr b="1" sz="1400">
                <a:solidFill>
                  <a:srgbClr val="174C39"/>
                </a:solidFill>
              </a:rPr>
              <a:t>My account</a:t>
            </a:r>
            <a:r>
              <a:rPr sz="1400">
                <a:solidFill>
                  <a:srgbClr val="1B2733"/>
                </a:solidFill>
              </a:rPr>
              <a:t> for order history and subscription controls. Open </a:t>
            </a:r>
            <a:r>
              <a:rPr b="1" sz="1400">
                <a:solidFill>
                  <a:srgbClr val="174C39"/>
                </a:solidFill>
              </a:rPr>
              <a:t>Tracking</a:t>
            </a:r>
            <a:r>
              <a:rPr sz="1400">
                <a:solidFill>
                  <a:srgbClr val="1B2733"/>
                </a:solidFill>
              </a:rPr>
              <a:t> to mark a simulated order shipped and delivered, then return to the account to see the updated history.</a:t>
            </a:r>
          </a:p>
          <a:p>
            <a:pPr>
              <a:spcAft>
                <a:spcPts val="600"/>
              </a:spcAft>
            </a:pPr>
            <a:r>
              <a:rPr sz="1400">
                <a:solidFill>
                  <a:srgbClr val="1B2733"/>
                </a:solidFill>
              </a:rPr>
              <a:t>Real-store accounts use the configured customer email flow. Tracking events are merchant-managed; the presence of a tracking field does not imply automatic DHL, FedEx or postal-carrier integration.</a:t>
            </a:r>
          </a:p>
        </p:txBody>
      </p:sp>
      <p:pic>
        <p:nvPicPr>
          <p:cNvPr id="5" name="Picture 4" descr="demo-subscriptions.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Email capture and the first-order offer</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In the simulator, tick the separate marketing-consent checkbox and request the welcome offer. Confirm the newsletter in </a:t>
            </a:r>
            <a:r>
              <a:rPr b="1" sz="1400">
                <a:solidFill>
                  <a:srgbClr val="174C39"/>
                </a:solidFill>
              </a:rPr>
              <a:t>Local inbox</a:t>
            </a:r>
            <a:r>
              <a:rPr sz="1400">
                <a:solidFill>
                  <a:srgbClr val="1B2733"/>
                </a:solidFill>
              </a:rPr>
              <a:t> before using </a:t>
            </a:r>
            <a:r>
              <a:rPr sz="1400">
                <a:solidFill>
                  <a:srgbClr val="174C39"/>
                </a:solidFill>
                <a:latin typeface="Consolas"/>
              </a:rPr>
              <a:t>DEMO-WELCOME</a:t>
            </a:r>
            <a:r>
              <a:rPr sz="1400">
                <a:solidFill>
                  <a:srgbClr val="1B2733"/>
                </a:solidFill>
              </a:rPr>
              <a:t>. Newsletter confirmation and account sign-in are separate actions.</a:t>
            </a:r>
          </a:p>
          <a:p>
            <a:pPr>
              <a:spcAft>
                <a:spcPts val="600"/>
              </a:spcAft>
            </a:pPr>
            <a:r>
              <a:rPr sz="1400">
                <a:solidFill>
                  <a:srgbClr val="1B2733"/>
                </a:solidFill>
              </a:rPr>
              <a:t>For the real storefront, use the configured email-provider workflow and verify consent, confirmation, offer eligibility and unsubscribe. Do not call it Shopify Email: this implementation uses FastShop's email boundary.</a:t>
            </a:r>
          </a:p>
          <a:p>
            <a:pPr>
              <a:spcAft>
                <a:spcPts val="600"/>
              </a:spcAft>
            </a:pPr>
            <a:r>
              <a:rPr b="1" sz="1400">
                <a:solidFill>
                  <a:srgbClr val="174C39"/>
                </a:solidFill>
              </a:rPr>
              <a:t>Brief copy:</a:t>
            </a:r>
            <a:r>
              <a:rPr sz="1400">
                <a:solidFill>
                  <a:srgbClr val="1B2733"/>
                </a:solidFill>
              </a:rPr>
              <a:t> “I agree to receive marketing emails from H2 4 You. Unsubscribe anytime.” Keep consent unticked by default and link the reviewed privacy policy. Verify that banner dismissal is remembered and the banner never blocks the page.</a:t>
            </a:r>
          </a:p>
        </p:txBody>
      </p:sp>
      <p:pic>
        <p:nvPicPr>
          <p:cNvPr id="5" name="Picture 4" descr="demo-inbox.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943600"/>
          </a:xfrm>
          <a:prstGeom prst="rect">
            <a:avLst/>
          </a:prstGeom>
          <a:solidFill>
            <a:srgbClr val="1B27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02920" y="438912"/>
            <a:ext cx="73152" cy="5943600"/>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3000" y="1143000"/>
            <a:ext cx="2743200" cy="457200"/>
          </a:xfrm>
          <a:prstGeom prst="rect">
            <a:avLst/>
          </a:prstGeom>
          <a:noFill/>
        </p:spPr>
        <p:txBody>
          <a:bodyPr wrap="none">
            <a:spAutoFit/>
          </a:bodyPr>
          <a:lstStyle/>
          <a:p>
            <a:r>
              <a:rPr sz="1200" b="1">
                <a:solidFill>
                  <a:srgbClr val="D6E6F5"/>
                </a:solidFill>
              </a:rPr>
              <a:t>SECTION 05</a:t>
            </a:r>
          </a:p>
        </p:txBody>
      </p:sp>
      <p:sp>
        <p:nvSpPr>
          <p:cNvPr id="5" name="TextBox 4"/>
          <p:cNvSpPr txBox="1"/>
          <p:nvPr/>
        </p:nvSpPr>
        <p:spPr>
          <a:xfrm>
            <a:off x="1143000" y="1874519"/>
            <a:ext cx="10180015" cy="3200400"/>
          </a:xfrm>
          <a:prstGeom prst="rect">
            <a:avLst/>
          </a:prstGeom>
          <a:noFill/>
        </p:spPr>
        <p:txBody>
          <a:bodyPr wrap="square">
            <a:spAutoFit/>
          </a:bodyPr>
          <a:lstStyle/>
          <a:p>
            <a:r>
              <a:rPr sz="4200" b="1">
                <a:solidFill>
                  <a:srgbClr val="FFFFFF"/>
                </a:solidFill>
              </a:rPr>
              <a:t>Review and launch</a:t>
            </a:r>
          </a:p>
          <a:p>
            <a:pPr>
              <a:spcBef>
                <a:spcPts val="1600"/>
              </a:spcBef>
            </a:pPr>
            <a:r>
              <a:rPr sz="1800">
                <a:solidFill>
                  <a:srgbClr val="D6E6F5"/>
                </a:solidFill>
              </a:rPr>
              <a:t>Approve the design/content result separately from commerce. A complete-looking preview can still contain unconfirmed prices, imagery, source figures and policies.</a:t>
            </a:r>
          </a:p>
        </p:txBody>
      </p:sp>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Phase 1 review: show the site before commerce</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5760720" cy="5394960"/>
          </a:xfrm>
          <a:prstGeom prst="rect">
            <a:avLst/>
          </a:prstGeom>
          <a:noFill/>
        </p:spPr>
        <p:txBody>
          <a:bodyPr wrap="square">
            <a:spAutoFit/>
          </a:bodyPr>
          <a:lstStyle/>
          <a:p>
            <a:pPr>
              <a:spcAft>
                <a:spcPts val="600"/>
              </a:spcAft>
            </a:pPr>
            <a:r>
              <a:rPr sz="1400">
                <a:solidFill>
                  <a:srgbClr val="1B2733"/>
                </a:solidFill>
              </a:rPr>
              <a:t>Walk through home, Shop, both products, Science, all three Learn articles, About, Contact and legal pages with the merchant. Review header, footer, announcement, offer preview and cookie controls on phone, tablet and desktop.</a:t>
            </a:r>
          </a:p>
          <a:p>
            <a:pPr>
              <a:spcAft>
                <a:spcPts val="600"/>
              </a:spcAft>
            </a:pPr>
            <a:r>
              <a:rPr sz="1400">
                <a:solidFill>
                  <a:srgbClr val="1B2733"/>
                </a:solidFill>
              </a:rPr>
              <a:t>Confirm tone, visual language, navigation, SEO descriptions, alt text and video fallbacks. Check research sources and remove invented or unapproved claims. Keep sample reviews visibly labelled—or omit them until genuine reviews exist.</a:t>
            </a:r>
          </a:p>
          <a:p>
            <a:pPr>
              <a:spcAft>
                <a:spcPts val="600"/>
              </a:spcAft>
            </a:pPr>
            <a:r>
              <a:rPr sz="1400">
                <a:solidFill>
                  <a:srgbClr val="1B2733"/>
                </a:solidFill>
              </a:rPr>
              <a:t>Record merchant approval before moving to commerce acceptance. Publishing the first page can expose a public noindex preview: </a:t>
            </a:r>
            <a:r>
              <a:rPr b="1" sz="1400">
                <a:solidFill>
                  <a:srgbClr val="174C39"/>
                </a:solidFill>
              </a:rPr>
              <a:t>noindex is not private access</a:t>
            </a:r>
            <a:r>
              <a:rPr sz="1400">
                <a:solidFill>
                  <a:srgbClr val="1B2733"/>
                </a:solidFill>
              </a:rPr>
              <a:t>. Use authenticated previews for unpublished work.</a:t>
            </a:r>
          </a:p>
        </p:txBody>
      </p:sp>
      <p:pic>
        <p:nvPicPr>
          <p:cNvPr id="5" name="Picture 4" descr="about.png"/>
          <p:cNvPicPr>
            <a:picLocks noChangeAspect="1"/>
          </p:cNvPicPr>
          <p:nvPr/>
        </p:nvPicPr>
        <p:blipFill>
          <a:blip r:embed="rId2"/>
          <a:stretch>
            <a:fillRect/>
          </a:stretch>
        </p:blipFill>
        <p:spPr>
          <a:xfrm>
            <a:off x="6492240" y="1280160"/>
            <a:ext cx="5212080" cy="3619500"/>
          </a:xfrm>
          <a:prstGeom prst="rect">
            <a:avLst/>
          </a:prstGeom>
        </p:spPr>
      </p:pic>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Phase 2 review: simulation, sandbox, launch</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731520"/>
          </a:xfrm>
          <a:prstGeom prst="rect">
            <a:avLst/>
          </a:prstGeom>
          <a:noFill/>
        </p:spPr>
        <p:txBody>
          <a:bodyPr wrap="square">
            <a:spAutoFit/>
          </a:bodyPr>
          <a:lstStyle/>
          <a:p>
            <a:pPr>
              <a:spcAft>
                <a:spcPts val="600"/>
              </a:spcAft>
            </a:pPr>
            <a:r>
              <a:rPr sz="1400">
                <a:solidFill>
                  <a:srgbClr val="1B2733"/>
                </a:solidFill>
              </a:rPr>
              <a:t>Never migrate simulated paid orders, fake cards or demo subscriptions into the real store. Live payments remain a separate release decision. See the repository's </a:t>
            </a:r>
            <a:r>
              <a:rPr sz="1400">
                <a:solidFill>
                  <a:srgbClr val="174C39"/>
                </a:solidFill>
                <a:hlinkClick r:id="rId2"/>
              </a:rPr>
              <a:t>Phase 2 acceptance register</a:t>
            </a:r>
            <a:r>
              <a:rPr sz="1400">
                <a:solidFill>
                  <a:srgbClr val="1B2733"/>
                </a:solidFill>
              </a:rPr>
              <a:t> for unresolved provider gates.</a:t>
            </a:r>
          </a:p>
        </p:txBody>
      </p:sp>
      <p:graphicFrame>
        <p:nvGraphicFramePr>
          <p:cNvPr id="5" name="Table 4"/>
          <p:cNvGraphicFramePr>
            <a:graphicFrameLocks noGrp="1"/>
          </p:cNvGraphicFramePr>
          <p:nvPr/>
        </p:nvGraphicFramePr>
        <p:xfrm>
          <a:off x="502920" y="1783080"/>
          <a:ext cx="11185855" cy="4572000"/>
        </p:xfrm>
        <a:graphic>
          <a:graphicData uri="http://schemas.openxmlformats.org/drawingml/2006/table">
            <a:tbl>
              <a:tblPr firstRow="1" bandRow="1">
                <a:tableStyleId>{5C22544A-7EE6-4342-B048-85BDC9FD1C3A}</a:tableStyleId>
              </a:tblPr>
              <a:tblGrid>
                <a:gridCol w="5592927"/>
                <a:gridCol w="5592928"/>
              </a:tblGrid>
              <a:tr h="653142">
                <a:tc>
                  <a:txBody>
                    <a:bodyPr/>
                    <a:lstStyle/>
                    <a:p>
                      <a:r>
                        <a:rPr sz="1000" b="1">
                          <a:solidFill>
                            <a:srgbClr val="FFFFFF"/>
                          </a:solidFill>
                        </a:rPr>
                        <a:t>Gate</a:t>
                      </a:r>
                    </a:p>
                  </a:txBody>
                  <a:tcPr marL="54864" marR="54864" marT="9144" marB="9144" anchor="ctr">
                    <a:solidFill>
                      <a:srgbClr val="174C39"/>
                    </a:solidFill>
                  </a:tcPr>
                </a:tc>
                <a:tc>
                  <a:txBody>
                    <a:bodyPr/>
                    <a:lstStyle/>
                    <a:p>
                      <a:r>
                        <a:rPr sz="1000" b="1">
                          <a:solidFill>
                            <a:srgbClr val="FFFFFF"/>
                          </a:solidFill>
                        </a:rPr>
                        <a:t>Evidence required</a:t>
                      </a:r>
                    </a:p>
                  </a:txBody>
                  <a:tcPr marL="54864" marR="54864" marT="9144" marB="9144" anchor="ctr">
                    <a:solidFill>
                      <a:srgbClr val="174C39"/>
                    </a:solidFill>
                  </a:tcPr>
                </a:tc>
              </a:tr>
              <a:tr h="653142">
                <a:tc>
                  <a:txBody>
                    <a:bodyPr/>
                    <a:lstStyle/>
                    <a:p>
                      <a:r>
                        <a:rPr sz="1000">
                          <a:solidFill>
                            <a:srgbClr val="1B2733"/>
                          </a:solidFill>
                        </a:rPr>
                        <a:t>Private demo</a:t>
                      </a:r>
                    </a:p>
                  </a:txBody>
                  <a:tcPr marL="54864" marR="54864" marT="9144" marB="9144" anchor="ctr">
                    <a:solidFill>
                      <a:srgbClr val="FFFFFF"/>
                    </a:solidFill>
                  </a:tcPr>
                </a:tc>
                <a:tc>
                  <a:txBody>
                    <a:bodyPr/>
                    <a:lstStyle/>
                    <a:p>
                      <a:r>
                        <a:rPr sz="1000">
                          <a:solidFill>
                            <a:srgbClr val="1B2733"/>
                          </a:solidFill>
                        </a:rPr>
                        <a:t>Synthetic checkout, offers, account, subscriptions, tracking and local mail work</a:t>
                      </a:r>
                    </a:p>
                  </a:txBody>
                  <a:tcPr marL="54864" marR="54864" marT="9144" marB="9144" anchor="ctr">
                    <a:solidFill>
                      <a:srgbClr val="FFFFFF"/>
                    </a:solidFill>
                  </a:tcPr>
                </a:tc>
              </a:tr>
              <a:tr h="653142">
                <a:tc>
                  <a:txBody>
                    <a:bodyPr/>
                    <a:lstStyle/>
                    <a:p>
                      <a:r>
                        <a:rPr sz="1000">
                          <a:solidFill>
                            <a:srgbClr val="1B2733"/>
                          </a:solidFill>
                        </a:rPr>
                        <a:t>Merchant review</a:t>
                      </a:r>
                    </a:p>
                  </a:txBody>
                  <a:tcPr marL="54864" marR="54864" marT="9144" marB="9144" anchor="ctr">
                    <a:solidFill>
                      <a:srgbClr val="EEF4FA"/>
                    </a:solidFill>
                  </a:tcPr>
                </a:tc>
                <a:tc>
                  <a:txBody>
                    <a:bodyPr/>
                    <a:lstStyle/>
                    <a:p>
                      <a:r>
                        <a:rPr sz="1000">
                          <a:solidFill>
                            <a:srgbClr val="1B2733"/>
                          </a:solidFill>
                        </a:rPr>
                        <a:t>Confirmed legal details, EU origin, US rates, product prices and tax settings</a:t>
                      </a:r>
                    </a:p>
                  </a:txBody>
                  <a:tcPr marL="54864" marR="54864" marT="9144" marB="9144" anchor="ctr">
                    <a:solidFill>
                      <a:srgbClr val="EEF4FA"/>
                    </a:solidFill>
                  </a:tcPr>
                </a:tc>
              </a:tr>
              <a:tr h="653142">
                <a:tc>
                  <a:txBody>
                    <a:bodyPr/>
                    <a:lstStyle/>
                    <a:p>
                      <a:r>
                        <a:rPr sz="1000">
                          <a:solidFill>
                            <a:srgbClr val="1B2733"/>
                          </a:solidFill>
                        </a:rPr>
                        <a:t>Stripe sandbox</a:t>
                      </a:r>
                    </a:p>
                  </a:txBody>
                  <a:tcPr marL="54864" marR="54864" marT="9144" marB="9144" anchor="ctr">
                    <a:solidFill>
                      <a:srgbClr val="FFFFFF"/>
                    </a:solidFill>
                  </a:tcPr>
                </a:tc>
                <a:tc>
                  <a:txBody>
                    <a:bodyPr/>
                    <a:lstStyle/>
                    <a:p>
                      <a:r>
                        <a:rPr sz="1000">
                          <a:solidFill>
                            <a:srgbClr val="1B2733"/>
                          </a:solidFill>
                        </a:rPr>
                        <a:t>Real test-provider tax, payment success/failure, webhooks and idempotency checked</a:t>
                      </a:r>
                    </a:p>
                  </a:txBody>
                  <a:tcPr marL="54864" marR="54864" marT="9144" marB="9144" anchor="ctr">
                    <a:solidFill>
                      <a:srgbClr val="FFFFFF"/>
                    </a:solidFill>
                  </a:tcPr>
                </a:tc>
              </a:tr>
              <a:tr h="653142">
                <a:tc>
                  <a:txBody>
                    <a:bodyPr/>
                    <a:lstStyle/>
                    <a:p>
                      <a:r>
                        <a:rPr sz="1000">
                          <a:solidFill>
                            <a:srgbClr val="1B2733"/>
                          </a:solidFill>
                        </a:rPr>
                        <a:t>Recurring operations</a:t>
                      </a:r>
                    </a:p>
                  </a:txBody>
                  <a:tcPr marL="54864" marR="54864" marT="9144" marB="9144" anchor="ctr">
                    <a:solidFill>
                      <a:srgbClr val="EEF4FA"/>
                    </a:solidFill>
                  </a:tcPr>
                </a:tc>
                <a:tc>
                  <a:txBody>
                    <a:bodyPr/>
                    <a:lstStyle/>
                    <a:p>
                      <a:r>
                        <a:rPr sz="1000">
                          <a:solidFill>
                            <a:srgbClr val="1B2733"/>
                          </a:solidFill>
                        </a:rPr>
                        <a:t>Renewal scheduling, payment updates, failure/recovery and notices exercised</a:t>
                      </a:r>
                    </a:p>
                  </a:txBody>
                  <a:tcPr marL="54864" marR="54864" marT="9144" marB="9144" anchor="ctr">
                    <a:solidFill>
                      <a:srgbClr val="EEF4FA"/>
                    </a:solidFill>
                  </a:tcPr>
                </a:tc>
              </a:tr>
              <a:tr h="653142">
                <a:tc>
                  <a:txBody>
                    <a:bodyPr/>
                    <a:lstStyle/>
                    <a:p>
                      <a:r>
                        <a:rPr sz="1000">
                          <a:solidFill>
                            <a:srgbClr val="1B2733"/>
                          </a:solidFill>
                        </a:rPr>
                        <a:t>Customer communications</a:t>
                      </a:r>
                    </a:p>
                  </a:txBody>
                  <a:tcPr marL="54864" marR="54864" marT="9144" marB="9144" anchor="ctr">
                    <a:solidFill>
                      <a:srgbClr val="FFFFFF"/>
                    </a:solidFill>
                  </a:tcPr>
                </a:tc>
                <a:tc>
                  <a:txBody>
                    <a:bodyPr/>
                    <a:lstStyle/>
                    <a:p>
                      <a:r>
                        <a:rPr sz="1000">
                          <a:solidFill>
                            <a:srgbClr val="1B2733"/>
                          </a:solidFill>
                        </a:rPr>
                        <a:t>Real test delivery, sign-in, marketing opt-in and unsubscribe verified</a:t>
                      </a:r>
                    </a:p>
                  </a:txBody>
                  <a:tcPr marL="54864" marR="54864" marT="9144" marB="9144" anchor="ctr">
                    <a:solidFill>
                      <a:srgbClr val="FFFFFF"/>
                    </a:solidFill>
                  </a:tcPr>
                </a:tc>
              </a:tr>
              <a:tr h="653148">
                <a:tc>
                  <a:txBody>
                    <a:bodyPr/>
                    <a:lstStyle/>
                    <a:p>
                      <a:r>
                        <a:rPr sz="1000">
                          <a:solidFill>
                            <a:srgbClr val="1B2733"/>
                          </a:solidFill>
                        </a:rPr>
                        <a:t>Launch decision</a:t>
                      </a:r>
                    </a:p>
                  </a:txBody>
                  <a:tcPr marL="54864" marR="54864" marT="9144" marB="9144" anchor="ctr">
                    <a:solidFill>
                      <a:srgbClr val="EEF4FA"/>
                    </a:solidFill>
                  </a:tcPr>
                </a:tc>
                <a:tc>
                  <a:txBody>
                    <a:bodyPr/>
                    <a:lstStyle/>
                    <a:p>
                      <a:r>
                        <a:rPr sz="1000">
                          <a:solidFill>
                            <a:srgbClr val="1B2733"/>
                          </a:solidFill>
                        </a:rPr>
                        <a:t>Reviewed content/policies, payment-method acceptance and deployment checks complete</a:t>
                      </a:r>
                    </a:p>
                  </a:txBody>
                  <a:tcPr marL="54864" marR="54864" marT="9144" marB="9144" anchor="ctr">
                    <a:solidFill>
                      <a:srgbClr val="EEF4FA"/>
                    </a:solidFill>
                  </a:tcPr>
                </a:tc>
              </a:tr>
            </a:tbl>
          </a:graphicData>
        </a:graphic>
      </p:graphicFrame>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H24YOU placeholder replacement register</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4" name="Table 3"/>
          <p:cNvGraphicFramePr>
            <a:graphicFrameLocks noGrp="1"/>
          </p:cNvGraphicFramePr>
          <p:nvPr/>
        </p:nvGraphicFramePr>
        <p:xfrm>
          <a:off x="502920" y="1143000"/>
          <a:ext cx="11185855" cy="5212080"/>
        </p:xfrm>
        <a:graphic>
          <a:graphicData uri="http://schemas.openxmlformats.org/drawingml/2006/table">
            <a:tbl>
              <a:tblPr firstRow="1" bandRow="1">
                <a:tableStyleId>{5C22544A-7EE6-4342-B048-85BDC9FD1C3A}</a:tableStyleId>
              </a:tblPr>
              <a:tblGrid>
                <a:gridCol w="5592927"/>
                <a:gridCol w="5592928"/>
              </a:tblGrid>
              <a:tr h="521208">
                <a:tc>
                  <a:txBody>
                    <a:bodyPr/>
                    <a:lstStyle/>
                    <a:p>
                      <a:r>
                        <a:rPr sz="1000" b="1">
                          <a:solidFill>
                            <a:srgbClr val="FFFFFF"/>
                          </a:solidFill>
                        </a:rPr>
                        <a:t>Item</a:t>
                      </a:r>
                    </a:p>
                  </a:txBody>
                  <a:tcPr marL="54864" marR="54864" marT="9144" marB="9144" anchor="ctr">
                    <a:solidFill>
                      <a:srgbClr val="174C39"/>
                    </a:solidFill>
                  </a:tcPr>
                </a:tc>
                <a:tc>
                  <a:txBody>
                    <a:bodyPr/>
                    <a:lstStyle/>
                    <a:p>
                      <a:r>
                        <a:rPr sz="1000" b="1">
                          <a:solidFill>
                            <a:srgbClr val="FFFFFF"/>
                          </a:solidFill>
                        </a:rPr>
                        <a:t>Merchant action before launch</a:t>
                      </a:r>
                    </a:p>
                  </a:txBody>
                  <a:tcPr marL="54864" marR="54864" marT="9144" marB="9144" anchor="ctr">
                    <a:solidFill>
                      <a:srgbClr val="174C39"/>
                    </a:solidFill>
                  </a:tcPr>
                </a:tc>
              </a:tr>
              <a:tr h="521208">
                <a:tc>
                  <a:txBody>
                    <a:bodyPr/>
                    <a:lstStyle/>
                    <a:p>
                      <a:r>
                        <a:rPr sz="1000">
                          <a:solidFill>
                            <a:srgbClr val="1B2733"/>
                          </a:solidFill>
                        </a:rPr>
                        <a:t>Company and warehouse</a:t>
                      </a:r>
                    </a:p>
                  </a:txBody>
                  <a:tcPr marL="54864" marR="54864" marT="9144" marB="9144" anchor="ctr">
                    <a:solidFill>
                      <a:srgbClr val="FFFFFF"/>
                    </a:solidFill>
                  </a:tcPr>
                </a:tc>
                <a:tc>
                  <a:txBody>
                    <a:bodyPr/>
                    <a:lstStyle/>
                    <a:p>
                      <a:r>
                        <a:rPr sz="1000">
                          <a:solidFill>
                            <a:srgbClr val="1B2733"/>
                          </a:solidFill>
                        </a:rPr>
                        <a:t>Confirm legal address separately from actual EU fulfillment origin</a:t>
                      </a:r>
                    </a:p>
                  </a:txBody>
                  <a:tcPr marL="54864" marR="54864" marT="9144" marB="9144" anchor="ctr">
                    <a:solidFill>
                      <a:srgbClr val="FFFFFF"/>
                    </a:solidFill>
                  </a:tcPr>
                </a:tc>
              </a:tr>
              <a:tr h="521208">
                <a:tc>
                  <a:txBody>
                    <a:bodyPr/>
                    <a:lstStyle/>
                    <a:p>
                      <a:r>
                        <a:rPr sz="1000">
                          <a:solidFill>
                            <a:srgbClr val="1B2733"/>
                          </a:solidFill>
                        </a:rPr>
                        <a:t>Prices and shipping</a:t>
                      </a:r>
                    </a:p>
                  </a:txBody>
                  <a:tcPr marL="54864" marR="54864" marT="9144" marB="9144" anchor="ctr">
                    <a:solidFill>
                      <a:srgbClr val="EEF4FA"/>
                    </a:solidFill>
                  </a:tcPr>
                </a:tc>
                <a:tc>
                  <a:txBody>
                    <a:bodyPr/>
                    <a:lstStyle/>
                    <a:p>
                      <a:r>
                        <a:rPr sz="1000">
                          <a:solidFill>
                            <a:srgbClr val="1B2733"/>
                          </a:solidFill>
                        </a:rPr>
                        <a:t>Confirm tablet pack size/price, bottle USD price, flat fee and $75 threshold</a:t>
                      </a:r>
                    </a:p>
                  </a:txBody>
                  <a:tcPr marL="54864" marR="54864" marT="9144" marB="9144" anchor="ctr">
                    <a:solidFill>
                      <a:srgbClr val="EEF4FA"/>
                    </a:solidFill>
                  </a:tcPr>
                </a:tc>
              </a:tr>
              <a:tr h="521208">
                <a:tc>
                  <a:txBody>
                    <a:bodyPr/>
                    <a:lstStyle/>
                    <a:p>
                      <a:r>
                        <a:rPr sz="1000">
                          <a:solidFill>
                            <a:srgbClr val="1B2733"/>
                          </a:solidFill>
                        </a:rPr>
                        <a:t>Product facts</a:t>
                      </a:r>
                    </a:p>
                  </a:txBody>
                  <a:tcPr marL="54864" marR="54864" marT="9144" marB="9144" anchor="ctr">
                    <a:solidFill>
                      <a:srgbClr val="FFFFFF"/>
                    </a:solidFill>
                  </a:tcPr>
                </a:tc>
                <a:tc>
                  <a:txBody>
                    <a:bodyPr/>
                    <a:lstStyle/>
                    <a:p>
                      <a:r>
                        <a:rPr sz="1000">
                          <a:solidFill>
                            <a:srgbClr val="1B2733"/>
                          </a:solidFill>
                        </a:rPr>
                        <a:t>Supply ingredients, Supplement Facts, directions and approved bottle specifications</a:t>
                      </a:r>
                    </a:p>
                  </a:txBody>
                  <a:tcPr marL="54864" marR="54864" marT="9144" marB="9144" anchor="ctr">
                    <a:solidFill>
                      <a:srgbClr val="FFFFFF"/>
                    </a:solidFill>
                  </a:tcPr>
                </a:tc>
              </a:tr>
              <a:tr h="521208">
                <a:tc>
                  <a:txBody>
                    <a:bodyPr/>
                    <a:lstStyle/>
                    <a:p>
                      <a:r>
                        <a:rPr sz="1000">
                          <a:solidFill>
                            <a:srgbClr val="1B2733"/>
                          </a:solidFill>
                        </a:rPr>
                        <a:t>Photos and video</a:t>
                      </a:r>
                    </a:p>
                  </a:txBody>
                  <a:tcPr marL="54864" marR="54864" marT="9144" marB="9144" anchor="ctr">
                    <a:solidFill>
                      <a:srgbClr val="EEF4FA"/>
                    </a:solidFill>
                  </a:tcPr>
                </a:tc>
                <a:tc>
                  <a:txBody>
                    <a:bodyPr/>
                    <a:lstStyle/>
                    <a:p>
                      <a:r>
                        <a:rPr sz="1000">
                          <a:solidFill>
                            <a:srgbClr val="1B2733"/>
                          </a:solidFill>
                        </a:rPr>
                        <a:t>Replace generated hero/product/lifestyle concepts and motion studies</a:t>
                      </a:r>
                    </a:p>
                  </a:txBody>
                  <a:tcPr marL="54864" marR="54864" marT="9144" marB="9144" anchor="ctr">
                    <a:solidFill>
                      <a:srgbClr val="EEF4FA"/>
                    </a:solidFill>
                  </a:tcPr>
                </a:tc>
              </a:tr>
              <a:tr h="521208">
                <a:tc>
                  <a:txBody>
                    <a:bodyPr/>
                    <a:lstStyle/>
                    <a:p>
                      <a:r>
                        <a:rPr sz="1000">
                          <a:solidFill>
                            <a:srgbClr val="1B2733"/>
                          </a:solidFill>
                        </a:rPr>
                        <a:t>People and reviews</a:t>
                      </a:r>
                    </a:p>
                  </a:txBody>
                  <a:tcPr marL="54864" marR="54864" marT="9144" marB="9144" anchor="ctr">
                    <a:solidFill>
                      <a:srgbClr val="FFFFFF"/>
                    </a:solidFill>
                  </a:tcPr>
                </a:tc>
                <a:tc>
                  <a:txBody>
                    <a:bodyPr/>
                    <a:lstStyle/>
                    <a:p>
                      <a:r>
                        <a:rPr sz="1000">
                          <a:solidFill>
                            <a:srgbClr val="1B2733"/>
                          </a:solidFill>
                        </a:rPr>
                        <a:t>Supply founder details, approved portraits and genuine testimonials</a:t>
                      </a:r>
                    </a:p>
                  </a:txBody>
                  <a:tcPr marL="54864" marR="54864" marT="9144" marB="9144" anchor="ctr">
                    <a:solidFill>
                      <a:srgbClr val="FFFFFF"/>
                    </a:solidFill>
                  </a:tcPr>
                </a:tc>
              </a:tr>
              <a:tr h="521208">
                <a:tc>
                  <a:txBody>
                    <a:bodyPr/>
                    <a:lstStyle/>
                    <a:p>
                      <a:r>
                        <a:rPr sz="1000">
                          <a:solidFill>
                            <a:srgbClr val="1B2733"/>
                          </a:solidFill>
                        </a:rPr>
                        <a:t>Research</a:t>
                      </a:r>
                    </a:p>
                  </a:txBody>
                  <a:tcPr marL="54864" marR="54864" marT="9144" marB="9144" anchor="ctr">
                    <a:solidFill>
                      <a:srgbClr val="EEF4FA"/>
                    </a:solidFill>
                  </a:tcPr>
                </a:tc>
                <a:tc>
                  <a:txBody>
                    <a:bodyPr/>
                    <a:lstStyle/>
                    <a:p>
                      <a:r>
                        <a:rPr sz="1000">
                          <a:solidFill>
                            <a:srgbClr val="1B2733"/>
                          </a:solidFill>
                        </a:rPr>
                        <a:t>Recheck 2,000+ / 120+ / 68 figures, date, reference metadata and article drafts</a:t>
                      </a:r>
                    </a:p>
                  </a:txBody>
                  <a:tcPr marL="54864" marR="54864" marT="9144" marB="9144" anchor="ctr">
                    <a:solidFill>
                      <a:srgbClr val="EEF4FA"/>
                    </a:solidFill>
                  </a:tcPr>
                </a:tc>
              </a:tr>
              <a:tr h="521208">
                <a:tc>
                  <a:txBody>
                    <a:bodyPr/>
                    <a:lstStyle/>
                    <a:p>
                      <a:r>
                        <a:rPr sz="1000">
                          <a:solidFill>
                            <a:srgbClr val="1B2733"/>
                          </a:solidFill>
                        </a:rPr>
                        <a:t>Claims and policies</a:t>
                      </a:r>
                    </a:p>
                  </a:txBody>
                  <a:tcPr marL="54864" marR="54864" marT="9144" marB="9144" anchor="ctr">
                    <a:solidFill>
                      <a:srgbClr val="FFFFFF"/>
                    </a:solidFill>
                  </a:tcPr>
                </a:tc>
                <a:tc>
                  <a:txBody>
                    <a:bodyPr/>
                    <a:lstStyle/>
                    <a:p>
                      <a:r>
                        <a:rPr sz="1000">
                          <a:solidFill>
                            <a:srgbClr val="1B2733"/>
                          </a:solidFill>
                        </a:rPr>
                        <a:t>Obtain the brief-requested review; enable only approved statements</a:t>
                      </a:r>
                    </a:p>
                  </a:txBody>
                  <a:tcPr marL="54864" marR="54864" marT="9144" marB="9144" anchor="ctr">
                    <a:solidFill>
                      <a:srgbClr val="FFFFFF"/>
                    </a:solidFill>
                  </a:tcPr>
                </a:tc>
              </a:tr>
              <a:tr h="521208">
                <a:tc>
                  <a:txBody>
                    <a:bodyPr/>
                    <a:lstStyle/>
                    <a:p>
                      <a:r>
                        <a:rPr sz="1000">
                          <a:solidFill>
                            <a:srgbClr val="1B2733"/>
                          </a:solidFill>
                        </a:rPr>
                        <a:t>Brand and links</a:t>
                      </a:r>
                    </a:p>
                  </a:txBody>
                  <a:tcPr marL="54864" marR="54864" marT="9144" marB="9144" anchor="ctr">
                    <a:solidFill>
                      <a:srgbClr val="EEF4FA"/>
                    </a:solidFill>
                  </a:tcPr>
                </a:tc>
                <a:tc>
                  <a:txBody>
                    <a:bodyPr/>
                    <a:lstStyle/>
                    <a:p>
                      <a:r>
                        <a:rPr sz="1000">
                          <a:solidFill>
                            <a:srgbClr val="1B2733"/>
                          </a:solidFill>
                        </a:rPr>
                        <a:t>Supply licensed Lovera if wanted; replace social destinations and missing assets</a:t>
                      </a:r>
                    </a:p>
                  </a:txBody>
                  <a:tcPr marL="54864" marR="54864" marT="9144" marB="9144" anchor="ctr">
                    <a:solidFill>
                      <a:srgbClr val="EEF4FA"/>
                    </a:solidFill>
                  </a:tcPr>
                </a:tc>
              </a:tr>
              <a:tr h="521208">
                <a:tc>
                  <a:txBody>
                    <a:bodyPr/>
                    <a:lstStyle/>
                    <a:p>
                      <a:r>
                        <a:rPr sz="1000">
                          <a:solidFill>
                            <a:srgbClr val="1B2733"/>
                          </a:solidFill>
                        </a:rPr>
                        <a:t>Commerce providers</a:t>
                      </a:r>
                    </a:p>
                  </a:txBody>
                  <a:tcPr marL="54864" marR="54864" marT="9144" marB="9144" anchor="ctr">
                    <a:solidFill>
                      <a:srgbClr val="FFFFFF"/>
                    </a:solidFill>
                  </a:tcPr>
                </a:tc>
                <a:tc>
                  <a:txBody>
                    <a:bodyPr/>
                    <a:lstStyle/>
                    <a:p>
                      <a:r>
                        <a:rPr sz="1000">
                          <a:solidFill>
                            <a:srgbClr val="1B2733"/>
                          </a:solidFill>
                        </a:rPr>
                        <a:t>Verify tax, payment methods, mail, scheduled jobs and fulfillment workflow</a:t>
                      </a:r>
                    </a:p>
                  </a:txBody>
                  <a:tcPr marL="54864" marR="54864" marT="9144" marB="9144" anchor="ctr">
                    <a:solidFill>
                      <a:srgbClr val="FFFFFF"/>
                    </a:solidFill>
                  </a:tcPr>
                </a:tc>
              </a:tr>
            </a:tbl>
          </a:graphicData>
        </a:graphic>
      </p:graphicFrame>
      <p:sp>
        <p:nvSpPr>
          <p:cNvPr id="5" name="TextBox 4"/>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438912"/>
            <a:ext cx="11185855" cy="530352"/>
          </a:xfrm>
          <a:prstGeom prst="rect">
            <a:avLst/>
          </a:prstGeom>
          <a:solidFill>
            <a:srgbClr val="174C39"/>
          </a:solidFill>
          <a:ln>
            <a:noFill/>
          </a:ln>
        </p:spPr>
        <p:style>
          <a:lnRef idx="1">
            <a:schemeClr val="accent1"/>
          </a:lnRef>
          <a:fillRef idx="3">
            <a:schemeClr val="accent1"/>
          </a:fillRef>
          <a:effectRef idx="2">
            <a:schemeClr val="accent1"/>
          </a:effectRef>
          <a:fontRef idx="minor">
            <a:schemeClr val="lt1"/>
          </a:fontRef>
        </p:style>
        <p:txBody>
          <a:bodyPr rtlCol="0" anchor="ctr" wrap="square" lIns="256032" tIns="64008"/>
          <a:lstStyle/>
          <a:p>
            <a:pPr algn="ctr"/>
            <a:r>
              <a:rPr sz="2100" b="1">
                <a:solidFill>
                  <a:srgbClr val="FFFFFF"/>
                </a:solidFill>
              </a:rPr>
              <a:t>Quick reference and source brief</a:t>
            </a:r>
          </a:p>
        </p:txBody>
      </p:sp>
      <p:sp>
        <p:nvSpPr>
          <p:cNvPr id="3" name="Rectangle 2"/>
          <p:cNvSpPr/>
          <p:nvPr/>
        </p:nvSpPr>
        <p:spPr>
          <a:xfrm>
            <a:off x="502920" y="438912"/>
            <a:ext cx="73152" cy="530352"/>
          </a:xfrm>
          <a:prstGeom prst="rect">
            <a:avLst/>
          </a:prstGeom>
          <a:solidFill>
            <a:srgbClr val="1F9D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143000"/>
            <a:ext cx="11185855" cy="731520"/>
          </a:xfrm>
          <a:prstGeom prst="rect">
            <a:avLst/>
          </a:prstGeom>
          <a:noFill/>
        </p:spPr>
        <p:txBody>
          <a:bodyPr wrap="square">
            <a:spAutoFit/>
          </a:bodyPr>
          <a:lstStyle/>
          <a:p>
            <a:pPr>
              <a:spcAft>
                <a:spcPts val="600"/>
              </a:spcAft>
            </a:pPr>
            <a:r>
              <a:rPr b="1" sz="1400">
                <a:solidFill>
                  <a:srgbClr val="174C39"/>
                </a:solidFill>
              </a:rPr>
              <a:t>Source:</a:t>
            </a:r>
            <a:r>
              <a:rPr sz="1400">
                <a:solidFill>
                  <a:srgbClr val="1B2733"/>
                </a:solidFill>
              </a:rPr>
              <a:t> </a:t>
            </a:r>
            <a:r>
              <a:rPr sz="1400">
                <a:solidFill>
                  <a:srgbClr val="174C39"/>
                </a:solidFill>
                <a:hlinkClick r:id="rId2"/>
              </a:rPr>
              <a:t>H24YOU website build brief</a:t>
            </a:r>
            <a:r>
              <a:rPr sz="1400">
                <a:solidFill>
                  <a:srgbClr val="1B2733"/>
                </a:solidFill>
              </a:rPr>
              <a:t>, §§0–11. Prompt pages distinguish original wording from adapted examples. Linked studies are the brief's references, not research newly verified for this guide. Never paste passwords, payment details, API keys or customer records into chat.</a:t>
            </a:r>
          </a:p>
        </p:txBody>
      </p:sp>
      <p:graphicFrame>
        <p:nvGraphicFramePr>
          <p:cNvPr id="5" name="Table 4"/>
          <p:cNvGraphicFramePr>
            <a:graphicFrameLocks noGrp="1"/>
          </p:cNvGraphicFramePr>
          <p:nvPr/>
        </p:nvGraphicFramePr>
        <p:xfrm>
          <a:off x="502920" y="1783080"/>
          <a:ext cx="11185855" cy="4572000"/>
        </p:xfrm>
        <a:graphic>
          <a:graphicData uri="http://schemas.openxmlformats.org/drawingml/2006/table">
            <a:tbl>
              <a:tblPr firstRow="1" bandRow="1">
                <a:tableStyleId>{5C22544A-7EE6-4342-B048-85BDC9FD1C3A}</a:tableStyleId>
              </a:tblPr>
              <a:tblGrid>
                <a:gridCol w="5592927"/>
                <a:gridCol w="5592928"/>
              </a:tblGrid>
              <a:tr h="508000">
                <a:tc>
                  <a:txBody>
                    <a:bodyPr/>
                    <a:lstStyle/>
                    <a:p>
                      <a:r>
                        <a:rPr sz="1000" b="1">
                          <a:solidFill>
                            <a:srgbClr val="FFFFFF"/>
                          </a:solidFill>
                        </a:rPr>
                        <a:t>I want to…</a:t>
                      </a:r>
                    </a:p>
                  </a:txBody>
                  <a:tcPr marL="54864" marR="54864" marT="9144" marB="9144" anchor="ctr">
                    <a:solidFill>
                      <a:srgbClr val="174C39"/>
                    </a:solidFill>
                  </a:tcPr>
                </a:tc>
                <a:tc>
                  <a:txBody>
                    <a:bodyPr/>
                    <a:lstStyle/>
                    <a:p>
                      <a:r>
                        <a:rPr sz="1000" b="1">
                          <a:solidFill>
                            <a:srgbClr val="FFFFFF"/>
                          </a:solidFill>
                        </a:rPr>
                        <a:t>Go to</a:t>
                      </a:r>
                    </a:p>
                  </a:txBody>
                  <a:tcPr marL="54864" marR="54864" marT="9144" marB="9144" anchor="ctr">
                    <a:solidFill>
                      <a:srgbClr val="174C39"/>
                    </a:solidFill>
                  </a:tcPr>
                </a:tc>
              </a:tr>
              <a:tr h="508000">
                <a:tc>
                  <a:txBody>
                    <a:bodyPr/>
                    <a:lstStyle/>
                    <a:p>
                      <a:r>
                        <a:rPr sz="1000">
                          <a:solidFill>
                            <a:srgbClr val="1B2733"/>
                          </a:solidFill>
                        </a:rPr>
                        <a:t>Change copy or page structure</a:t>
                      </a:r>
                    </a:p>
                  </a:txBody>
                  <a:tcPr marL="54864" marR="54864" marT="9144" marB="9144" anchor="ctr">
                    <a:solidFill>
                      <a:srgbClr val="FFFFFF"/>
                    </a:solidFill>
                  </a:tcPr>
                </a:tc>
                <a:tc>
                  <a:txBody>
                    <a:bodyPr/>
                    <a:lstStyle/>
                    <a:p>
                      <a:r>
                        <a:rPr sz="1000">
                          <a:solidFill>
                            <a:srgbClr val="1B2733"/>
                          </a:solidFill>
                        </a:rPr>
                        <a:t>Classical editor → page → Save draft</a:t>
                      </a:r>
                    </a:p>
                  </a:txBody>
                  <a:tcPr marL="54864" marR="54864" marT="9144" marB="9144" anchor="ctr">
                    <a:solidFill>
                      <a:srgbClr val="FFFFFF"/>
                    </a:solidFill>
                  </a:tcPr>
                </a:tc>
              </a:tr>
              <a:tr h="508000">
                <a:tc>
                  <a:txBody>
                    <a:bodyPr/>
                    <a:lstStyle/>
                    <a:p>
                      <a:r>
                        <a:rPr sz="1000">
                          <a:solidFill>
                            <a:srgbClr val="1B2733"/>
                          </a:solidFill>
                        </a:rPr>
                        <a:t>Ask for a focused draft change</a:t>
                      </a:r>
                    </a:p>
                  </a:txBody>
                  <a:tcPr marL="54864" marR="54864" marT="9144" marB="9144" anchor="ctr">
                    <a:solidFill>
                      <a:srgbClr val="EEF4FA"/>
                    </a:solidFill>
                  </a:tcPr>
                </a:tc>
                <a:tc>
                  <a:txBody>
                    <a:bodyPr/>
                    <a:lstStyle/>
                    <a:p>
                      <a:r>
                        <a:rPr sz="1000">
                          <a:solidFill>
                            <a:srgbClr val="1B2733"/>
                          </a:solidFill>
                        </a:rPr>
                        <a:t>Build with AI → select page/section → Update draft</a:t>
                      </a:r>
                    </a:p>
                  </a:txBody>
                  <a:tcPr marL="54864" marR="54864" marT="9144" marB="9144" anchor="ctr">
                    <a:solidFill>
                      <a:srgbClr val="EEF4FA"/>
                    </a:solidFill>
                  </a:tcPr>
                </a:tc>
              </a:tr>
              <a:tr h="508000">
                <a:tc>
                  <a:txBody>
                    <a:bodyPr/>
                    <a:lstStyle/>
                    <a:p>
                      <a:r>
                        <a:rPr sz="1000">
                          <a:solidFill>
                            <a:srgbClr val="1B2733"/>
                          </a:solidFill>
                        </a:rPr>
                        <a:t>Change design precisely</a:t>
                      </a:r>
                    </a:p>
                  </a:txBody>
                  <a:tcPr marL="54864" marR="54864" marT="9144" marB="9144" anchor="ctr">
                    <a:solidFill>
                      <a:srgbClr val="FFFFFF"/>
                    </a:solidFill>
                  </a:tcPr>
                </a:tc>
                <a:tc>
                  <a:txBody>
                    <a:bodyPr/>
                    <a:lstStyle/>
                    <a:p>
                      <a:r>
                        <a:rPr sz="1000">
                          <a:solidFill>
                            <a:srgbClr val="1B2733"/>
                          </a:solidFill>
                        </a:rPr>
                        <a:t>Design controls</a:t>
                      </a:r>
                    </a:p>
                  </a:txBody>
                  <a:tcPr marL="54864" marR="54864" marT="9144" marB="9144" anchor="ctr">
                    <a:solidFill>
                      <a:srgbClr val="FFFFFF"/>
                    </a:solidFill>
                  </a:tcPr>
                </a:tc>
              </a:tr>
              <a:tr h="508000">
                <a:tc>
                  <a:txBody>
                    <a:bodyPr/>
                    <a:lstStyle/>
                    <a:p>
                      <a:r>
                        <a:rPr sz="1000">
                          <a:solidFill>
                            <a:srgbClr val="1B2733"/>
                          </a:solidFill>
                        </a:rPr>
                        <a:t>Change menu, banner, footer or counters</a:t>
                      </a:r>
                    </a:p>
                  </a:txBody>
                  <a:tcPr marL="54864" marR="54864" marT="9144" marB="9144" anchor="ctr">
                    <a:solidFill>
                      <a:srgbClr val="EEF4FA"/>
                    </a:solidFill>
                  </a:tcPr>
                </a:tc>
                <a:tc>
                  <a:txBody>
                    <a:bodyPr/>
                    <a:lstStyle/>
                    <a:p>
                      <a:r>
                        <a:rPr sz="1000">
                          <a:solidFill>
                            <a:srgbClr val="1B2733"/>
                          </a:solidFill>
                        </a:rPr>
                        <a:t>Brand and shared content</a:t>
                      </a:r>
                    </a:p>
                  </a:txBody>
                  <a:tcPr marL="54864" marR="54864" marT="9144" marB="9144" anchor="ctr">
                    <a:solidFill>
                      <a:srgbClr val="EEF4FA"/>
                    </a:solidFill>
                  </a:tcPr>
                </a:tc>
              </a:tr>
              <a:tr h="508000">
                <a:tc>
                  <a:txBody>
                    <a:bodyPr/>
                    <a:lstStyle/>
                    <a:p>
                      <a:r>
                        <a:rPr sz="1000">
                          <a:solidFill>
                            <a:srgbClr val="1B2733"/>
                          </a:solidFill>
                        </a:rPr>
                        <a:t>Edit variants/prices</a:t>
                      </a:r>
                    </a:p>
                  </a:txBody>
                  <a:tcPr marL="54864" marR="54864" marT="9144" marB="9144" anchor="ctr">
                    <a:solidFill>
                      <a:srgbClr val="FFFFFF"/>
                    </a:solidFill>
                  </a:tcPr>
                </a:tc>
                <a:tc>
                  <a:txBody>
                    <a:bodyPr/>
                    <a:lstStyle/>
                    <a:p>
                      <a:r>
                        <a:rPr sz="1000">
                          <a:solidFill>
                            <a:srgbClr val="1B2733"/>
                          </a:solidFill>
                        </a:rPr>
                        <a:t>Products; review operational impact</a:t>
                      </a:r>
                    </a:p>
                  </a:txBody>
                  <a:tcPr marL="54864" marR="54864" marT="9144" marB="9144" anchor="ctr">
                    <a:solidFill>
                      <a:srgbClr val="FFFFFF"/>
                    </a:solidFill>
                  </a:tcPr>
                </a:tc>
              </a:tr>
              <a:tr h="508000">
                <a:tc>
                  <a:txBody>
                    <a:bodyPr/>
                    <a:lstStyle/>
                    <a:p>
                      <a:r>
                        <a:rPr sz="1000">
                          <a:solidFill>
                            <a:srgbClr val="1B2733"/>
                          </a:solidFill>
                        </a:rPr>
                        <a:t>Replace merchant samples</a:t>
                      </a:r>
                    </a:p>
                  </a:txBody>
                  <a:tcPr marL="54864" marR="54864" marT="9144" marB="9144" anchor="ctr">
                    <a:solidFill>
                      <a:srgbClr val="EEF4FA"/>
                    </a:solidFill>
                  </a:tcPr>
                </a:tc>
                <a:tc>
                  <a:txBody>
                    <a:bodyPr/>
                    <a:lstStyle/>
                    <a:p>
                      <a:r>
                        <a:rPr sz="1000">
                          <a:solidFill>
                            <a:srgbClr val="1B2733"/>
                          </a:solidFill>
                        </a:rPr>
                        <a:t>Merchant details &amp; samples</a:t>
                      </a:r>
                    </a:p>
                  </a:txBody>
                  <a:tcPr marL="54864" marR="54864" marT="9144" marB="9144" anchor="ctr">
                    <a:solidFill>
                      <a:srgbClr val="EEF4FA"/>
                    </a:solidFill>
                  </a:tcPr>
                </a:tc>
              </a:tr>
              <a:tr h="508000">
                <a:tc>
                  <a:txBody>
                    <a:bodyPr/>
                    <a:lstStyle/>
                    <a:p>
                      <a:r>
                        <a:rPr sz="1000">
                          <a:solidFill>
                            <a:srgbClr val="1B2733"/>
                          </a:solidFill>
                        </a:rPr>
                        <a:t>Try a safe shopping journey</a:t>
                      </a:r>
                    </a:p>
                  </a:txBody>
                  <a:tcPr marL="54864" marR="54864" marT="9144" marB="9144" anchor="ctr">
                    <a:solidFill>
                      <a:srgbClr val="FFFFFF"/>
                    </a:solidFill>
                  </a:tcPr>
                </a:tc>
                <a:tc>
                  <a:txBody>
                    <a:bodyPr/>
                    <a:lstStyle/>
                    <a:p>
                      <a:r>
                        <a:rPr sz="1000">
                          <a:solidFill>
                            <a:srgbClr val="1B2733"/>
                          </a:solidFill>
                        </a:rPr>
                        <a:t>Try commerce demo</a:t>
                      </a:r>
                    </a:p>
                  </a:txBody>
                  <a:tcPr marL="54864" marR="54864" marT="9144" marB="9144" anchor="ctr">
                    <a:solidFill>
                      <a:srgbClr val="FFFFFF"/>
                    </a:solidFill>
                  </a:tcPr>
                </a:tc>
              </a:tr>
              <a:tr h="508000">
                <a:tc>
                  <a:txBody>
                    <a:bodyPr/>
                    <a:lstStyle/>
                    <a:p>
                      <a:r>
                        <a:rPr sz="1000">
                          <a:solidFill>
                            <a:srgbClr val="1B2733"/>
                          </a:solidFill>
                        </a:rPr>
                        <a:t>Review payments, shipping and tax</a:t>
                      </a:r>
                    </a:p>
                  </a:txBody>
                  <a:tcPr marL="54864" marR="54864" marT="9144" marB="9144" anchor="ctr">
                    <a:solidFill>
                      <a:srgbClr val="EEF4FA"/>
                    </a:solidFill>
                  </a:tcPr>
                </a:tc>
                <a:tc>
                  <a:txBody>
                    <a:bodyPr/>
                    <a:lstStyle/>
                    <a:p>
                      <a:r>
                        <a:rPr sz="1000">
                          <a:solidFill>
                            <a:srgbClr val="1B2733"/>
                          </a:solidFill>
                        </a:rPr>
                        <a:t>Commerce; then the sandbox acceptance register</a:t>
                      </a:r>
                    </a:p>
                  </a:txBody>
                  <a:tcPr marL="54864" marR="54864" marT="9144" marB="9144" anchor="ctr">
                    <a:solidFill>
                      <a:srgbClr val="EEF4FA"/>
                    </a:solidFill>
                  </a:tcPr>
                </a:tc>
              </a:tr>
            </a:tbl>
          </a:graphicData>
        </a:graphic>
      </p:graphicFrame>
      <p:sp>
        <p:nvSpPr>
          <p:cNvPr id="6" name="TextBox 5"/>
          <p:cNvSpPr txBox="1"/>
          <p:nvPr/>
        </p:nvSpPr>
        <p:spPr>
          <a:xfrm>
            <a:off x="365760" y="6473952"/>
            <a:ext cx="11460175" cy="292608"/>
          </a:xfrm>
          <a:prstGeom prst="rect">
            <a:avLst/>
          </a:prstGeom>
          <a:noFill/>
        </p:spPr>
        <p:txBody>
          <a:bodyPr wrap="none">
            <a:spAutoFit/>
          </a:bodyPr>
          <a:lstStyle/>
          <a:p>
            <a:pPr algn="r"/>
            <a:r>
              <a:rPr sz="900">
                <a:solidFill>
                  <a:srgbClr val="6B7278"/>
                </a:solidFill>
              </a:rPr>
              <a:t>FastShop · Build your store, your way · v0.1.0 · 2026-09-21 · shop.fastsme.com · 39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